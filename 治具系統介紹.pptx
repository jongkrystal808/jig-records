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74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主旨：系統把原本分散的治具資料、庫存狀態與生產需求放進同一個操作流程。</a:t>
            </a:r>
          </a:p>
          <a:p>
            <a:r>
              <a:t>[Sources]</a:t>
            </a:r>
          </a:p>
          <a:p>
            <a:r>
              <a:t>- C:/Users/user/PycharmProjects/jig-record/AGENT.md（系統定位、搜尋、庫存與產能計算）</a:t>
            </a:r>
          </a:p>
          <a:p>
            <a:r>
              <a:t>- C:/Users/user/PycharmProjects/jig-record/ARCHITECTURE_LANDING.md（目前已實作功能）</a:t>
            </a:r>
          </a:p>
          <a:p>
            <a:r>
              <a:t>- C:/Users/user/PycharmProjects/jig-record/uploads/fixtures/O-78-5.jpg</a:t>
            </a:r>
          </a:p>
          <a:p>
            <a:r>
              <a:t>- C:/Users/user/PycharmProjects/jig-record/uploads/fixtures/F-00629.jpg</a:t>
            </a:r>
          </a:p>
          <a:p>
            <a:r>
              <a:t>- C:/Users/user/PycharmProjects/jig-record/uploads/fixtures/D-00002.jpg</a:t>
            </a:r>
          </a:p>
          <a:p>
            <a:r>
              <a:t>
補充：功能介紹已展開至搜尋欄位、顯示資訊、收退料／批次作業、警示與產能計算邏輯。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使用方式可依現場節奏說明：班前確認、異常應變、排程決策。</a:t>
            </a:r>
          </a:p>
          <a:p>
            <a:r>
              <a:t>最大可開站數的核心邏輯為各必要治具可支援數量的最小值；查詢範圍必須包含機種與工站。</a:t>
            </a:r>
          </a:p>
          <a:p>
            <a:r>
              <a:t>[Sources]</a:t>
            </a:r>
          </a:p>
          <a:p>
            <a:r>
              <a:t>- C:/Users/user/PycharmProjects/jig-record/AGENT.md（搜尋規則、庫存警示、產能計算）</a:t>
            </a:r>
          </a:p>
          <a:p>
            <a:r>
              <a:t>- C:/Users/user/PycharmProjects/jig-record/ARCHITECTURE_LANDING.md（搜尋、收退料、批次與產能功能）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效益以可驗證的改善方向呈現，避免在尚未建立基準值前宣稱百分比成果。</a:t>
            </a:r>
          </a:p>
          <a:p>
            <a:r>
              <a:t>建議導入前後用相同口徑追蹤：平均查找時間、缺料事件數、排程調整次數。</a:t>
            </a:r>
          </a:p>
          <a:p>
            <a:r>
              <a:t>[Sources]</a:t>
            </a:r>
          </a:p>
          <a:p>
            <a:r>
              <a:t>- C:/Users/user/PycharmProjects/jig-record/AGENT.md（系統目標、權限、庫存警示、產能規劃）</a:t>
            </a:r>
          </a:p>
          <a:p>
            <a:r>
              <a:t>- C:/Users/user/PycharmProjects/jig-record/ARCHITECTURE_LANDING.md（現有功能與使用範圍）</a:t>
            </a:r>
          </a:p>
          <a:p>
            <a:r>
              <a:t>
補充：改善效益以等待、缺料風險與排程判斷三類結果呈現，並保留導入後量測建議。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-Shape-532-p58-2">
            <a:extLst>
              <a:ext uri="{FF2B5EF4-FFF2-40B4-BE49-F238E27FC236}">
                <a16:creationId xmlns:a16="http://schemas.microsoft.com/office/drawing/2014/main" id="{1780BE44-C0C3-4147-BF8E-D1EB35D99992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/ 03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305A503B-6481-442A-B182-32A68DEE5CF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治具系統，串起查找、庫存與產能</a:t>
            </a:r>
          </a:p>
        </p:txBody>
      </p:sp>
      <p:sp>
        <p:nvSpPr>
          <p:cNvPr id="3" name="Google-Shape-558-p61-4">
            <a:extLst>
              <a:ext uri="{FF2B5EF4-FFF2-40B4-BE49-F238E27FC236}">
                <a16:creationId xmlns:a16="http://schemas.microsoft.com/office/drawing/2014/main" id="{24140B59-470B-47A7-93DC-A19AA170D69F}"/>
              </a:ext>
            </a:extLst>
          </p:cNvPr>
          <p:cNvSpPr>
            <a:spLocks noGrp="1"/>
          </p:cNvSpPr>
          <p:nvPr/>
        </p:nvSpPr>
        <p:spPr>
          <a:xfrm>
            <a:off x="3936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</a:pPr>
            <a:r>
              <a:rPr sz="2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快速查找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搜尋｜編號／名稱、機種、工站或庫位
顯示｜照片、庫存、關聯機種與責任人</a:t>
            </a:r>
          </a:p>
        </p:txBody>
      </p:sp>
      <p:sp>
        <p:nvSpPr>
          <p:cNvPr id="4" name="Google-Shape-559-p61-5">
            <a:extLst>
              <a:ext uri="{FF2B5EF4-FFF2-40B4-BE49-F238E27FC236}">
                <a16:creationId xmlns:a16="http://schemas.microsoft.com/office/drawing/2014/main" id="{78527ABE-05FA-4FF4-8596-3822AEEE1BF8}"/>
              </a:ext>
            </a:extLst>
          </p:cNvPr>
          <p:cNvSpPr>
            <a:spLocks noGrp="1"/>
          </p:cNvSpPr>
          <p:nvPr/>
        </p:nvSpPr>
        <p:spPr>
          <a:xfrm>
            <a:off x="43179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</a:pPr>
            <a:r>
              <a:rPr sz="2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庫存管理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作業｜收料、退料、批次貼上、CSV 匯入
狀態｜庫存摘要、低庫存／無庫存提示</a:t>
            </a:r>
          </a:p>
        </p:txBody>
      </p:sp>
      <p:sp>
        <p:nvSpPr>
          <p:cNvPr id="5" name="Google-Shape-560-p61-6">
            <a:extLst>
              <a:ext uri="{FF2B5EF4-FFF2-40B4-BE49-F238E27FC236}">
                <a16:creationId xmlns:a16="http://schemas.microsoft.com/office/drawing/2014/main" id="{C04B1A9E-997E-450C-BFCA-CDAFD6E8EAC2}"/>
              </a:ext>
            </a:extLst>
          </p:cNvPr>
          <p:cNvSpPr>
            <a:spLocks noGrp="1"/>
          </p:cNvSpPr>
          <p:nvPr/>
        </p:nvSpPr>
        <p:spPr>
          <a:xfrm>
            <a:off x="8232267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buNone/>
            </a:pPr>
            <a:r>
              <a:rPr sz="2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產能規劃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設定｜機種 × 工站 × 治具需求量
計算｜取可支援數最小值，得到最大開站能力</a:t>
            </a:r>
          </a:p>
        </p:txBody>
      </p:sp>
      <p:sp>
        <p:nvSpPr>
          <p:cNvPr id="6" name="Google-Shape-561-p61-7">
            <a:extLst>
              <a:ext uri="{FF2B5EF4-FFF2-40B4-BE49-F238E27FC236}">
                <a16:creationId xmlns:a16="http://schemas.microsoft.com/office/drawing/2014/main" id="{BF909FB8-484B-4C2D-8510-00CFF09F1758}"/>
              </a:ext>
            </a:extLst>
          </p:cNvPr>
          <p:cNvSpPr>
            <a:spLocks noGrp="1"/>
          </p:cNvSpPr>
          <p:nvPr/>
        </p:nvSpPr>
        <p:spPr>
          <a:xfrm>
            <a:off x="4279868" y="3382328"/>
            <a:ext cx="315563" cy="353854"/>
          </a:xfrm>
          <a:custGeom>
            <a:avLst/>
            <a:gdLst/>
            <a:ahLst/>
            <a:cxnLst/>
            <a:rect l="0" t="0" r="0" b="0"/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7" name="Google-Shape-562-p61-8">
            <a:extLst>
              <a:ext uri="{FF2B5EF4-FFF2-40B4-BE49-F238E27FC236}">
                <a16:creationId xmlns:a16="http://schemas.microsoft.com/office/drawing/2014/main" id="{236CAE3A-01C5-46BA-B58C-D20BBD75B821}"/>
              </a:ext>
            </a:extLst>
          </p:cNvPr>
          <p:cNvSpPr>
            <a:spLocks noGrp="1"/>
          </p:cNvSpPr>
          <p:nvPr/>
        </p:nvSpPr>
        <p:spPr>
          <a:xfrm>
            <a:off x="401384" y="3378232"/>
            <a:ext cx="327089" cy="362045"/>
          </a:xfrm>
          <a:custGeom>
            <a:avLst/>
            <a:gdLst/>
            <a:ahLst/>
            <a:cxnLst/>
            <a:rect l="0" t="0" r="0" b="0"/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8" name="Google-Shape-563-p61-9">
            <a:extLst>
              <a:ext uri="{FF2B5EF4-FFF2-40B4-BE49-F238E27FC236}">
                <a16:creationId xmlns:a16="http://schemas.microsoft.com/office/drawing/2014/main" id="{65EB2E3A-E418-495D-85E8-D510F5C075A3}"/>
              </a:ext>
            </a:extLst>
          </p:cNvPr>
          <p:cNvSpPr>
            <a:spLocks noGrp="1"/>
          </p:cNvSpPr>
          <p:nvPr/>
        </p:nvSpPr>
        <p:spPr>
          <a:xfrm>
            <a:off x="8231600" y="3406807"/>
            <a:ext cx="338614" cy="270891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accent-rule">
            <a:extLst>
              <a:ext uri="{FF2B5EF4-FFF2-40B4-BE49-F238E27FC236}">
                <a16:creationId xmlns:a16="http://schemas.microsoft.com/office/drawing/2014/main" id="{D6BDCE16-6501-4F6C-9416-7E77B841AC93}"/>
              </a:ext>
            </a:extLst>
          </p:cNvPr>
          <p:cNvSpPr>
            <a:spLocks noGrp="1"/>
          </p:cNvSpPr>
          <p:nvPr/>
        </p:nvSpPr>
        <p:spPr>
          <a:xfrm>
            <a:off x="393668" y="1295400"/>
            <a:ext cx="1676400" cy="4762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0" name="fixture-photo-search-frame">
            <a:extLst>
              <a:ext uri="{FF2B5EF4-FFF2-40B4-BE49-F238E27FC236}">
                <a16:creationId xmlns:a16="http://schemas.microsoft.com/office/drawing/2014/main" id="{204BB7B2-7C78-4E5D-852F-2D5393F62127}"/>
              </a:ext>
            </a:extLst>
          </p:cNvPr>
          <p:cNvSpPr>
            <a:spLocks noGrp="1"/>
          </p:cNvSpPr>
          <p:nvPr/>
        </p:nvSpPr>
        <p:spPr>
          <a:xfrm>
            <a:off x="355568" y="1619250"/>
            <a:ext cx="3644932" cy="1485900"/>
          </a:xfrm>
          <a:prstGeom prst="rect">
            <a:avLst/>
          </a:prstGeom>
          <a:solidFill>
            <a:srgbClr val="EDEDED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rcRect t="14901" b="14901"/>
          <a:stretch>
            <a:fillRect/>
          </a:stretch>
        </p:blipFill>
        <p:spPr>
          <a:xfrm>
            <a:off x="393668" y="1657350"/>
            <a:ext cx="3568732" cy="1409700"/>
          </a:xfrm>
          <a:prstGeom prst="rect">
            <a:avLst/>
          </a:prstGeom>
        </p:spPr>
      </p:pic>
      <p:sp>
        <p:nvSpPr>
          <p:cNvPr id="12" name="fixture-photo-inventory-frame">
            <a:extLst>
              <a:ext uri="{FF2B5EF4-FFF2-40B4-BE49-F238E27FC236}">
                <a16:creationId xmlns:a16="http://schemas.microsoft.com/office/drawing/2014/main" id="{282A6A8F-CB83-438F-93BD-B31A5C5B19D5}"/>
              </a:ext>
            </a:extLst>
          </p:cNvPr>
          <p:cNvSpPr>
            <a:spLocks noGrp="1"/>
          </p:cNvSpPr>
          <p:nvPr/>
        </p:nvSpPr>
        <p:spPr>
          <a:xfrm>
            <a:off x="4279868" y="1619250"/>
            <a:ext cx="3644932" cy="1485900"/>
          </a:xfrm>
          <a:prstGeom prst="rect">
            <a:avLst/>
          </a:prstGeom>
          <a:solidFill>
            <a:srgbClr val="EDEDED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32" name="圖片 31"/>
          <p:cNvPicPr>
            <a:picLocks noChangeAspect="1"/>
          </p:cNvPicPr>
          <p:nvPr/>
        </p:nvPicPr>
        <p:blipFill>
          <a:blip r:embed="rId4"/>
          <a:srcRect t="30459" b="30459"/>
          <a:stretch>
            <a:fillRect/>
          </a:stretch>
        </p:blipFill>
        <p:spPr>
          <a:xfrm>
            <a:off x="4317968" y="1657350"/>
            <a:ext cx="3568732" cy="1409700"/>
          </a:xfrm>
          <a:prstGeom prst="rect">
            <a:avLst/>
          </a:prstGeom>
        </p:spPr>
      </p:pic>
      <p:sp>
        <p:nvSpPr>
          <p:cNvPr id="14" name="fixture-photo-capacity-frame">
            <a:extLst>
              <a:ext uri="{FF2B5EF4-FFF2-40B4-BE49-F238E27FC236}">
                <a16:creationId xmlns:a16="http://schemas.microsoft.com/office/drawing/2014/main" id="{A344CAE6-7E1F-48DC-928B-72F0B44F7E1F}"/>
              </a:ext>
            </a:extLst>
          </p:cNvPr>
          <p:cNvSpPr>
            <a:spLocks noGrp="1"/>
          </p:cNvSpPr>
          <p:nvPr/>
        </p:nvSpPr>
        <p:spPr>
          <a:xfrm>
            <a:off x="8194167" y="1619250"/>
            <a:ext cx="3644932" cy="1485900"/>
          </a:xfrm>
          <a:prstGeom prst="rect">
            <a:avLst/>
          </a:prstGeom>
          <a:solidFill>
            <a:srgbClr val="EDEDED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34" name="圖片 33"/>
          <p:cNvPicPr>
            <a:picLocks noChangeAspect="1"/>
          </p:cNvPicPr>
          <p:nvPr/>
        </p:nvPicPr>
        <p:blipFill>
          <a:blip r:embed="rId5"/>
          <a:srcRect t="23666" b="23666"/>
          <a:stretch>
            <a:fillRect/>
          </a:stretch>
        </p:blipFill>
        <p:spPr>
          <a:xfrm>
            <a:off x="8232267" y="1657350"/>
            <a:ext cx="3568732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2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Number-Placeholder-3-2">
            <a:extLst>
              <a:ext uri="{FF2B5EF4-FFF2-40B4-BE49-F238E27FC236}">
                <a16:creationId xmlns:a16="http://schemas.microsoft.com/office/drawing/2014/main" id="{ACE30AE8-EFAF-4A5E-82D7-ED8D666AFF7D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/ 03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01107C1D-F9FD-436C-B15C-F9438AECA516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三個現場節點，快速完成日常決策</a:t>
            </a:r>
          </a:p>
        </p:txBody>
      </p:sp>
      <p:cxnSp>
        <p:nvCxnSpPr>
          <p:cNvPr id="22" name="Google-Shape-2259-p159-4"/>
          <p:cNvCxnSpPr/>
          <p:nvPr/>
        </p:nvCxnSpPr>
        <p:spPr>
          <a:xfrm>
            <a:off x="337757" y="5341620"/>
            <a:ext cx="1146057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738F8F47-8C89-4673-A93A-EDA6F2B2D7AE}"/>
              </a:ext>
            </a:extLst>
          </p:cNvPr>
          <p:cNvSpPr>
            <a:spLocks noGrp="1"/>
          </p:cNvSpPr>
          <p:nvPr/>
        </p:nvSpPr>
        <p:spPr>
          <a:xfrm>
            <a:off x="337757" y="5288089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BEF6B464-BCAB-46D2-A86B-3D9EBA38C02F}"/>
              </a:ext>
            </a:extLst>
          </p:cNvPr>
          <p:cNvSpPr>
            <a:spLocks noGrp="1"/>
          </p:cNvSpPr>
          <p:nvPr/>
        </p:nvSpPr>
        <p:spPr>
          <a:xfrm>
            <a:off x="4251770" y="5288089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4132305F-6397-48A8-AB9E-10CBEE9CDD74}"/>
              </a:ext>
            </a:extLst>
          </p:cNvPr>
          <p:cNvSpPr>
            <a:spLocks noGrp="1"/>
          </p:cNvSpPr>
          <p:nvPr/>
        </p:nvSpPr>
        <p:spPr>
          <a:xfrm>
            <a:off x="8176070" y="5288089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Rounded-Rectangle-19-8">
            <a:extLst>
              <a:ext uri="{FF2B5EF4-FFF2-40B4-BE49-F238E27FC236}">
                <a16:creationId xmlns:a16="http://schemas.microsoft.com/office/drawing/2014/main" id="{360EBA68-41FC-44A7-A4E9-15FAA0B03AA4}"/>
              </a:ext>
            </a:extLst>
          </p:cNvPr>
          <p:cNvSpPr>
            <a:spLocks noGrp="1"/>
          </p:cNvSpPr>
          <p:nvPr/>
        </p:nvSpPr>
        <p:spPr>
          <a:xfrm>
            <a:off x="393668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</p:sp>
      <p:sp>
        <p:nvSpPr>
          <p:cNvPr id="8" name="Content-Placeholder-8-9">
            <a:extLst>
              <a:ext uri="{FF2B5EF4-FFF2-40B4-BE49-F238E27FC236}">
                <a16:creationId xmlns:a16="http://schemas.microsoft.com/office/drawing/2014/main" id="{454252E0-EB17-4E70-ADFB-314E74CA70DE}"/>
              </a:ext>
            </a:extLst>
          </p:cNvPr>
          <p:cNvSpPr>
            <a:spLocks noGrp="1"/>
          </p:cNvSpPr>
          <p:nvPr/>
        </p:nvSpPr>
        <p:spPr>
          <a:xfrm>
            <a:off x="703421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開工前備料</a:t>
            </a:r>
          </a:p>
          <a:p>
            <a:pPr algn="l">
              <a:lnSpc>
                <a:spcPct val="12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搜尋治具與庫位，確認庫存與責任人，快速備齊現場需求。</a:t>
            </a:r>
          </a:p>
        </p:txBody>
      </p:sp>
      <p:sp>
        <p:nvSpPr>
          <p:cNvPr id="9" name="Rounded-Rectangle-21-10">
            <a:extLst>
              <a:ext uri="{FF2B5EF4-FFF2-40B4-BE49-F238E27FC236}">
                <a16:creationId xmlns:a16="http://schemas.microsoft.com/office/drawing/2014/main" id="{809AE032-791D-4FDB-86A1-4E3064691218}"/>
              </a:ext>
            </a:extLst>
          </p:cNvPr>
          <p:cNvSpPr>
            <a:spLocks noGrp="1"/>
          </p:cNvSpPr>
          <p:nvPr/>
        </p:nvSpPr>
        <p:spPr>
          <a:xfrm>
            <a:off x="4308443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</p:sp>
      <p:sp>
        <p:nvSpPr>
          <p:cNvPr id="10" name="Content-Placeholder-8-11">
            <a:extLst>
              <a:ext uri="{FF2B5EF4-FFF2-40B4-BE49-F238E27FC236}">
                <a16:creationId xmlns:a16="http://schemas.microsoft.com/office/drawing/2014/main" id="{ADF7CF9B-4EC0-4FFC-A11C-9B2E93EA77D7}"/>
              </a:ext>
            </a:extLst>
          </p:cNvPr>
          <p:cNvSpPr>
            <a:spLocks noGrp="1"/>
          </p:cNvSpPr>
          <p:nvPr/>
        </p:nvSpPr>
        <p:spPr>
          <a:xfrm>
            <a:off x="4618196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缺料異常處理</a:t>
            </a:r>
          </a:p>
          <a:p>
            <a:pPr algn="l">
              <a:lnSpc>
                <a:spcPct val="12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遇到低庫存或缺料，追溯收退料明細，補料與責任歸屬更清楚。</a:t>
            </a:r>
          </a:p>
        </p:txBody>
      </p:sp>
      <p:sp>
        <p:nvSpPr>
          <p:cNvPr id="11" name="Rounded-Rectangle-23-12">
            <a:extLst>
              <a:ext uri="{FF2B5EF4-FFF2-40B4-BE49-F238E27FC236}">
                <a16:creationId xmlns:a16="http://schemas.microsoft.com/office/drawing/2014/main" id="{875E2103-BF56-4709-8666-4B6B963B2EDB}"/>
              </a:ext>
            </a:extLst>
          </p:cNvPr>
          <p:cNvSpPr>
            <a:spLocks noGrp="1"/>
          </p:cNvSpPr>
          <p:nvPr/>
        </p:nvSpPr>
        <p:spPr>
          <a:xfrm>
            <a:off x="8237506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</p:sp>
      <p:sp>
        <p:nvSpPr>
          <p:cNvPr id="12" name="Content-Placeholder-8-13">
            <a:extLst>
              <a:ext uri="{FF2B5EF4-FFF2-40B4-BE49-F238E27FC236}">
                <a16:creationId xmlns:a16="http://schemas.microsoft.com/office/drawing/2014/main" id="{17062426-D25D-48BB-8FA9-BF5B758A57F1}"/>
              </a:ext>
            </a:extLst>
          </p:cNvPr>
          <p:cNvSpPr>
            <a:spLocks noGrp="1"/>
          </p:cNvSpPr>
          <p:nvPr/>
        </p:nvSpPr>
        <p:spPr>
          <a:xfrm>
            <a:off x="8547259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生產排程確認</a:t>
            </a:r>
          </a:p>
          <a:p>
            <a:pPr algn="l">
              <a:lnSpc>
                <a:spcPct val="12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選定機種與工站，依需求量與現有庫存估算最大可開站數。</a:t>
            </a:r>
          </a:p>
        </p:txBody>
      </p:sp>
      <p:sp>
        <p:nvSpPr>
          <p:cNvPr id="13" name="Text-Placeholder-16-14">
            <a:extLst>
              <a:ext uri="{FF2B5EF4-FFF2-40B4-BE49-F238E27FC236}">
                <a16:creationId xmlns:a16="http://schemas.microsoft.com/office/drawing/2014/main" id="{DABB3C55-8F2C-4829-AB98-496783F616D3}"/>
              </a:ext>
            </a:extLst>
          </p:cNvPr>
          <p:cNvSpPr>
            <a:spLocks noGrp="1"/>
          </p:cNvSpPr>
          <p:nvPr/>
        </p:nvSpPr>
        <p:spPr>
          <a:xfrm>
            <a:off x="4251770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02｜缺料應變</a:t>
            </a:r>
          </a:p>
        </p:txBody>
      </p:sp>
      <p:sp>
        <p:nvSpPr>
          <p:cNvPr id="14" name="Text-Placeholder-16-15">
            <a:extLst>
              <a:ext uri="{FF2B5EF4-FFF2-40B4-BE49-F238E27FC236}">
                <a16:creationId xmlns:a16="http://schemas.microsoft.com/office/drawing/2014/main" id="{35D48FEC-F67A-4096-960B-7731C42CD4C0}"/>
              </a:ext>
            </a:extLst>
          </p:cNvPr>
          <p:cNvSpPr>
            <a:spLocks noGrp="1"/>
          </p:cNvSpPr>
          <p:nvPr/>
        </p:nvSpPr>
        <p:spPr>
          <a:xfrm>
            <a:off x="390906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01｜班前準備</a:t>
            </a:r>
          </a:p>
        </p:txBody>
      </p:sp>
      <p:sp>
        <p:nvSpPr>
          <p:cNvPr id="15" name="Text-Placeholder-16-16">
            <a:extLst>
              <a:ext uri="{FF2B5EF4-FFF2-40B4-BE49-F238E27FC236}">
                <a16:creationId xmlns:a16="http://schemas.microsoft.com/office/drawing/2014/main" id="{3AD8EEE2-8644-4F35-864C-FBBD95510E86}"/>
              </a:ext>
            </a:extLst>
          </p:cNvPr>
          <p:cNvSpPr>
            <a:spLocks noGrp="1"/>
          </p:cNvSpPr>
          <p:nvPr/>
        </p:nvSpPr>
        <p:spPr>
          <a:xfrm>
            <a:off x="8225409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03｜排程確認</a:t>
            </a:r>
          </a:p>
        </p:txBody>
      </p:sp>
      <p:sp>
        <p:nvSpPr>
          <p:cNvPr id="16" name="accent-rule">
            <a:extLst>
              <a:ext uri="{FF2B5EF4-FFF2-40B4-BE49-F238E27FC236}">
                <a16:creationId xmlns:a16="http://schemas.microsoft.com/office/drawing/2014/main" id="{8236B382-A3FC-459E-A6E3-09BFC77CB3A1}"/>
              </a:ext>
            </a:extLst>
          </p:cNvPr>
          <p:cNvSpPr>
            <a:spLocks noGrp="1"/>
          </p:cNvSpPr>
          <p:nvPr/>
        </p:nvSpPr>
        <p:spPr>
          <a:xfrm>
            <a:off x="393668" y="1295400"/>
            <a:ext cx="1676400" cy="4762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430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-Shape-532-p58-2">
            <a:extLst>
              <a:ext uri="{FF2B5EF4-FFF2-40B4-BE49-F238E27FC236}">
                <a16:creationId xmlns:a16="http://schemas.microsoft.com/office/drawing/2014/main" id="{C472B9FF-C3DF-4A97-9218-06EAF814EF55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/ 03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4684E8F7-6B02-4CB3-AECD-D12EB800D13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系統功能直接改善等待、缺料與排程風險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20A893E5-64C3-45CC-B3BA-34D39C3DB233}"/>
              </a:ext>
            </a:extLst>
          </p:cNvPr>
          <p:cNvSpPr>
            <a:spLocks noGrp="1"/>
          </p:cNvSpPr>
          <p:nvPr/>
        </p:nvSpPr>
        <p:spPr>
          <a:xfrm>
            <a:off x="393668" y="1722406"/>
            <a:ext cx="5537168" cy="8651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五項系統作法，建立一致作業依據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07FEB36E-919F-441E-B670-D70BCA2F7BD4}"/>
              </a:ext>
            </a:extLst>
          </p:cNvPr>
          <p:cNvSpPr>
            <a:spLocks noGrp="1"/>
          </p:cNvSpPr>
          <p:nvPr/>
        </p:nvSpPr>
        <p:spPr>
          <a:xfrm>
            <a:off x="7886700" y="29902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查找｜圖片與庫位</a:t>
            </a:r>
          </a:p>
        </p:txBody>
      </p:sp>
      <p:sp>
        <p:nvSpPr>
          <p:cNvPr id="5" name="Google-Shape-340-p61-6">
            <a:extLst>
              <a:ext uri="{FF2B5EF4-FFF2-40B4-BE49-F238E27FC236}">
                <a16:creationId xmlns:a16="http://schemas.microsoft.com/office/drawing/2014/main" id="{3D6D3502-67A6-4EFA-BE00-8DF9140C83C2}"/>
              </a:ext>
            </a:extLst>
          </p:cNvPr>
          <p:cNvSpPr>
            <a:spLocks noGrp="1"/>
          </p:cNvSpPr>
          <p:nvPr/>
        </p:nvSpPr>
        <p:spPr>
          <a:xfrm>
            <a:off x="7507700" y="30151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6" name="TextBox-11-7">
            <a:extLst>
              <a:ext uri="{FF2B5EF4-FFF2-40B4-BE49-F238E27FC236}">
                <a16:creationId xmlns:a16="http://schemas.microsoft.com/office/drawing/2014/main" id="{EC39B5F8-5F48-43DC-84AA-ACCAFB95C180}"/>
              </a:ext>
            </a:extLst>
          </p:cNvPr>
          <p:cNvSpPr>
            <a:spLocks noGrp="1"/>
          </p:cNvSpPr>
          <p:nvPr/>
        </p:nvSpPr>
        <p:spPr>
          <a:xfrm>
            <a:off x="393668" y="2990279"/>
            <a:ext cx="5537168" cy="32351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buNone/>
            </a:pPr>
            <a:r>
              <a:rPr sz="1800" dirty="0" err="1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減少等待｜圖片、庫位、庫存與關聯機種集中查詢，縮短找料與問人時間</a:t>
            </a:r>
            <a:r>
              <a:rPr sz="1800" dirty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。
</a:t>
            </a:r>
            <a:r>
              <a:rPr sz="1800" dirty="0" err="1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降低風險｜低庫存／缺料提前提示，收退料可追溯，減少帳實不符</a:t>
            </a:r>
            <a:r>
              <a:rPr sz="1800" dirty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。
</a:t>
            </a:r>
            <a:r>
              <a:rPr sz="1800" dirty="0" err="1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提升規劃｜依機種、工站與需求量試算可開站數，提早辨識瓶頸</a:t>
            </a:r>
            <a:r>
              <a:rPr sz="1800" dirty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r>
              <a:rPr sz="1500" b="1" dirty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
</a:t>
            </a:r>
            <a:r>
              <a:rPr sz="1500" b="1" dirty="0" err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建議量測｜查找時間、缺料事件、排程調整次數</a:t>
            </a:r>
            <a:endParaRPr sz="1500" b="1" dirty="0">
              <a:solidFill>
                <a:srgbClr val="1D4ED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B5316665-F5A0-429E-A719-0761D30E6827}"/>
              </a:ext>
            </a:extLst>
          </p:cNvPr>
          <p:cNvSpPr>
            <a:spLocks noGrp="1"/>
          </p:cNvSpPr>
          <p:nvPr/>
        </p:nvSpPr>
        <p:spPr>
          <a:xfrm>
            <a:off x="7886700" y="35998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預警｜低庫存提示</a:t>
            </a:r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874FD6CF-E991-473E-B506-5767052E43D5}"/>
              </a:ext>
            </a:extLst>
          </p:cNvPr>
          <p:cNvSpPr>
            <a:spLocks noGrp="1"/>
          </p:cNvSpPr>
          <p:nvPr/>
        </p:nvSpPr>
        <p:spPr>
          <a:xfrm>
            <a:off x="7507700" y="36247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DB20BDA4-9361-4D5F-A717-A2E1D7C3254D}"/>
              </a:ext>
            </a:extLst>
          </p:cNvPr>
          <p:cNvSpPr>
            <a:spLocks noGrp="1"/>
          </p:cNvSpPr>
          <p:nvPr/>
        </p:nvSpPr>
        <p:spPr>
          <a:xfrm>
            <a:off x="7886700" y="4214813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規劃｜可開站試算</a:t>
            </a:r>
            <a:endParaRPr sz="2400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Google-Shape-340-p61-11">
            <a:extLst>
              <a:ext uri="{FF2B5EF4-FFF2-40B4-BE49-F238E27FC236}">
                <a16:creationId xmlns:a16="http://schemas.microsoft.com/office/drawing/2014/main" id="{75DDBB27-603D-4355-A7CF-A49992666629}"/>
              </a:ext>
            </a:extLst>
          </p:cNvPr>
          <p:cNvSpPr>
            <a:spLocks noGrp="1"/>
          </p:cNvSpPr>
          <p:nvPr/>
        </p:nvSpPr>
        <p:spPr>
          <a:xfrm>
            <a:off x="7507700" y="42395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1" name="Content-Placeholder-10-12">
            <a:extLst>
              <a:ext uri="{FF2B5EF4-FFF2-40B4-BE49-F238E27FC236}">
                <a16:creationId xmlns:a16="http://schemas.microsoft.com/office/drawing/2014/main" id="{6359BA52-9E91-4FBF-84CA-C3B93E6F1F22}"/>
              </a:ext>
            </a:extLst>
          </p:cNvPr>
          <p:cNvSpPr>
            <a:spLocks noGrp="1"/>
          </p:cNvSpPr>
          <p:nvPr/>
        </p:nvSpPr>
        <p:spPr>
          <a:xfrm>
            <a:off x="7886700" y="4824317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權責｜角色與稽核</a:t>
            </a:r>
            <a:endParaRPr sz="2400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Google-Shape-340-p61-13">
            <a:extLst>
              <a:ext uri="{FF2B5EF4-FFF2-40B4-BE49-F238E27FC236}">
                <a16:creationId xmlns:a16="http://schemas.microsoft.com/office/drawing/2014/main" id="{A5701AE6-507B-42FF-88F0-27EF1CD1683C}"/>
              </a:ext>
            </a:extLst>
          </p:cNvPr>
          <p:cNvSpPr>
            <a:spLocks noGrp="1"/>
          </p:cNvSpPr>
          <p:nvPr/>
        </p:nvSpPr>
        <p:spPr>
          <a:xfrm>
            <a:off x="7507700" y="48491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3" name="Content-Placeholder-10-14">
            <a:extLst>
              <a:ext uri="{FF2B5EF4-FFF2-40B4-BE49-F238E27FC236}">
                <a16:creationId xmlns:a16="http://schemas.microsoft.com/office/drawing/2014/main" id="{03DE1234-D510-46D9-873D-C61C4D69E225}"/>
              </a:ext>
            </a:extLst>
          </p:cNvPr>
          <p:cNvSpPr>
            <a:spLocks noGrp="1"/>
          </p:cNvSpPr>
          <p:nvPr/>
        </p:nvSpPr>
        <p:spPr>
          <a:xfrm>
            <a:off x="7886700" y="5446681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資料｜批次匯入匯出</a:t>
            </a:r>
            <a:endParaRPr sz="2400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Google-Shape-340-p61-15">
            <a:extLst>
              <a:ext uri="{FF2B5EF4-FFF2-40B4-BE49-F238E27FC236}">
                <a16:creationId xmlns:a16="http://schemas.microsoft.com/office/drawing/2014/main" id="{108B43E8-3E84-47CB-8B45-A2D8C3748B24}"/>
              </a:ext>
            </a:extLst>
          </p:cNvPr>
          <p:cNvSpPr>
            <a:spLocks noGrp="1"/>
          </p:cNvSpPr>
          <p:nvPr/>
        </p:nvSpPr>
        <p:spPr>
          <a:xfrm>
            <a:off x="7507700" y="5471541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5" name="accent-rule">
            <a:extLst>
              <a:ext uri="{FF2B5EF4-FFF2-40B4-BE49-F238E27FC236}">
                <a16:creationId xmlns:a16="http://schemas.microsoft.com/office/drawing/2014/main" id="{CDB090F9-D694-4D90-AA1A-77D7733F5104}"/>
              </a:ext>
            </a:extLst>
          </p:cNvPr>
          <p:cNvSpPr>
            <a:spLocks noGrp="1"/>
          </p:cNvSpPr>
          <p:nvPr/>
        </p:nvSpPr>
        <p:spPr>
          <a:xfrm>
            <a:off x="393668" y="1295400"/>
            <a:ext cx="1676400" cy="4762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622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52" y="819150"/>
            <a:ext cx="11310464" cy="516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" y="704850"/>
            <a:ext cx="12186198" cy="556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87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095" y="295666"/>
            <a:ext cx="7723809" cy="6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47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09" y="800100"/>
            <a:ext cx="11884957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7" y="704850"/>
            <a:ext cx="12061093" cy="550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2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86" y="762000"/>
            <a:ext cx="11727480" cy="535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5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004444"/>
            <a:ext cx="11029950" cy="503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36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08" y="647700"/>
            <a:ext cx="12032692" cy="549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272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294</Words>
  <Application>Microsoft Office PowerPoint</Application>
  <DocSecurity>0</DocSecurity>
  <PresentationFormat>寬螢幕</PresentationFormat>
  <Paragraphs>44</Paragraphs>
  <Slides>11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Helvetica Neue</vt:lpstr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2</cp:revision>
  <dcterms:created xsi:type="dcterms:W3CDTF">2026-08-03T01:58:21Z</dcterms:created>
  <dcterms:modified xsi:type="dcterms:W3CDTF">2026-08-03T02:58:58Z</dcterms:modified>
</cp:coreProperties>
</file>