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81089d7fb841be" /><Relationship Type="http://schemas.openxmlformats.org/officeDocument/2006/relationships/extended-properties" Target="/docProps/app.xml" Id="R1c18b4c3463d4829" /><Relationship Type="http://schemas.openxmlformats.org/officeDocument/2006/relationships/officeDocument" Target="/ppt/presentation.xml" Id="R107524ddb4ee4c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6c6b1d89174f44"/>
  </p:sldMasterIdLst>
  <p:notesMasterIdLst>
    <p:notesMasterId xmlns:r="http://schemas.openxmlformats.org/officeDocument/2006/relationships" r:id="R9ba9e9ea0eed4087"/>
  </p:notesMasterIdLst>
  <p:sldIdLst>
    <p:sldId xmlns:r="http://schemas.openxmlformats.org/officeDocument/2006/relationships" id="256" r:id="Rbed08d93c2674a5a"/>
    <p:sldId xmlns:r="http://schemas.openxmlformats.org/officeDocument/2006/relationships" id="257" r:id="Rdae8834ce2444892"/>
    <p:sldId xmlns:r="http://schemas.openxmlformats.org/officeDocument/2006/relationships" id="258" r:id="R4a8a78e9fef74f08"/>
    <p:sldId xmlns:r="http://schemas.openxmlformats.org/officeDocument/2006/relationships" id="259" r:id="R391544fb6534489c"/>
    <p:sldId xmlns:r="http://schemas.openxmlformats.org/officeDocument/2006/relationships" id="260" r:id="R522f8fee5e5f4a38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bf235b5914d06" /><Relationship Type="http://schemas.openxmlformats.org/officeDocument/2006/relationships/slideMaster" Target="/ppt/slideMasters/slideMaster1.xml" Id="R026c6b1d89174f44" /><Relationship Type="http://schemas.openxmlformats.org/officeDocument/2006/relationships/notesMaster" Target="/ppt/notesMasters/notesMaster1.xml" Id="R9ba9e9ea0eed4087" /><Relationship Type="http://schemas.openxmlformats.org/officeDocument/2006/relationships/presProps" Target="/ppt/presProps.xml" Id="Rac23496cb4db423e" /><Relationship Type="http://schemas.openxmlformats.org/officeDocument/2006/relationships/tableStyles" Target="/ppt/tableStyles.xml" Id="Rd9c80833df5b485d" /><Relationship Type="http://schemas.openxmlformats.org/officeDocument/2006/relationships/slide" Target="/ppt/slides/slide1.xml" Id="Rbed08d93c2674a5a" /><Relationship Type="http://schemas.openxmlformats.org/officeDocument/2006/relationships/slide" Target="/ppt/slides/slide2.xml" Id="Rdae8834ce2444892" /><Relationship Type="http://schemas.openxmlformats.org/officeDocument/2006/relationships/slide" Target="/ppt/slides/slide3.xml" Id="R4a8a78e9fef74f08" /><Relationship Type="http://schemas.openxmlformats.org/officeDocument/2006/relationships/slide" Target="/ppt/slides/slide4.xml" Id="R391544fb6534489c" /><Relationship Type="http://schemas.openxmlformats.org/officeDocument/2006/relationships/slide" Target="/ppt/slides/slide5.xml" Id="R522f8fee5e5f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f9494c2e07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2be3d5cd84eb3" /><Relationship Type="http://schemas.openxmlformats.org/officeDocument/2006/relationships/notesMaster" Target="/ppt/notesMasters/notesMaster1.xml" Id="R37b15650823347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891db98244b60" /><Relationship Type="http://schemas.openxmlformats.org/officeDocument/2006/relationships/notesMaster" Target="/ppt/notesMasters/notesMaster1.xml" Id="R1f326688b672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7f49a8e6f949a3" /><Relationship Type="http://schemas.openxmlformats.org/officeDocument/2006/relationships/notesMaster" Target="/ppt/notesMasters/notesMaster1.xml" Id="R1610414939aa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98d443446451f" /><Relationship Type="http://schemas.openxmlformats.org/officeDocument/2006/relationships/notesMaster" Target="/ppt/notesMasters/notesMaster1.xml" Id="R117f8f19d7f7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0004f0cde4bc3" /><Relationship Type="http://schemas.openxmlformats.org/officeDocument/2006/relationships/notesMaster" Target="/ppt/notesMasters/notesMaster1.xml" Id="R361ccb07de7342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doc/ARCHITECTURE.md</a:t>
            </a:r>
          </a:p>
          <a:p xmlns:a="http://schemas.openxmlformats.org/drawingml/2006/main">
            <a:r>
              <a:t>- frontend/tests/visual/workbench.visual.spec.ts-snapshots/workbench-receipt-desktop-1920-win32.png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doc/backend-map.md</a:t>
            </a:r>
          </a:p>
          <a:p xmlns:a="http://schemas.openxmlformats.org/drawingml/2006/main">
            <a:r>
              <a:t>- backend/app/utils/identifier_rules.py</a:t>
            </a:r>
          </a:p>
          <a:p xmlns:a="http://schemas.openxmlformats.org/drawingml/2006/main">
            <a:r>
              <a:t>- frontend/src/utils/identifier.ts</a:t>
            </a:r>
          </a:p>
          <a:p xmlns:a="http://schemas.openxmlformats.org/drawingml/2006/main">
            <a:r>
              <a:t>- frontend/tests/visual/workbench.visual.spec.ts-snapshots/workbench-ledger-multiselect-open-desktop-1920-win32.png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doc/backend-map.md</a:t>
            </a:r>
          </a:p>
          <a:p xmlns:a="http://schemas.openxmlformats.org/drawingml/2006/main">
            <a:r>
              <a:t>- backend/tests/test_configuration_report.py</a:t>
            </a:r>
          </a:p>
          <a:p xmlns:a="http://schemas.openxmlformats.org/drawingml/2006/main">
            <a:r>
              <a:t>- backend/app/services/production_service.py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doc/ARCHITECTURE.md</a:t>
            </a:r>
          </a:p>
          <a:p xmlns:a="http://schemas.openxmlformats.org/drawingml/2006/main">
            <a:r>
              <a:t>- backend/app/repositories/configuration_report_repository.py</a:t>
            </a:r>
          </a:p>
          <a:p xmlns:a="http://schemas.openxmlformats.org/drawingml/2006/main">
            <a:r>
              <a:t>- backend/app/services/configuration_report_service.py</a:t>
            </a:r>
          </a:p>
          <a:p xmlns:a="http://schemas.openxmlformats.org/drawingml/2006/main">
            <a:r>
              <a:t>- frontend/tests/visual/workbench.visual.spec.ts-snapshots/workbench-management-overview-desktop-1920-win32.png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doc/ARCHITECTURE.md</a:t>
            </a:r>
          </a:p>
          <a:p xmlns:a="http://schemas.openxmlformats.org/drawingml/2006/main">
            <a:r>
              <a:t>- backend/app/core/auth.py</a:t>
            </a:r>
          </a:p>
          <a:p xmlns:a="http://schemas.openxmlformats.org/drawingml/2006/main">
            <a:r>
              <a:t>- backend/alembic/versions/0012_split_fixture_storage_columns.py</a:t>
            </a:r>
          </a:p>
          <a:p xmlns:a="http://schemas.openxmlformats.org/drawingml/2006/main">
            <a:r>
              <a:t>- backend/alembic/versions/0014_fixture_deletion.py</a:t>
            </a:r>
          </a:p>
          <a:p xmlns:a="http://schemas.openxmlformats.org/drawingml/2006/main">
            <a:r>
              <a:t>- frontend/tests/visual/workbench.visual.spec.ts-snapshots/workbench-image-maintenance-desktop-1920-win32.png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f43841159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cc9020e8845c6" /><Relationship Type="http://schemas.openxmlformats.org/officeDocument/2006/relationships/slideLayout" Target="/ppt/slideLayouts/slideLayout1.xml" Id="Rd0fbe78da03744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fbe78da03744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cbd51c78d4798" /><Relationship Type="http://schemas.openxmlformats.org/officeDocument/2006/relationships/image" Target="/ppt/media/image.png" Id="Rff00f8b4a583461b" /><Relationship Type="http://schemas.openxmlformats.org/officeDocument/2006/relationships/notesSlide" Target="/ppt/notesSlides/notesSlide1.xml" Id="R11de2e8004fd41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44ecb09a4a3b" /><Relationship Type="http://schemas.openxmlformats.org/officeDocument/2006/relationships/image" Target="/ppt/media/image2.png" Id="Re7a79f41832d4e2a" /><Relationship Type="http://schemas.openxmlformats.org/officeDocument/2006/relationships/notesSlide" Target="/ppt/notesSlides/notesSlide2.xml" Id="R41297e610ffa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c084b5a9f4a49" /><Relationship Type="http://schemas.openxmlformats.org/officeDocument/2006/relationships/notesSlide" Target="/ppt/notesSlides/notesSlide3.xml" Id="R0b212c8f021f4a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abfc0d7534b9d" /><Relationship Type="http://schemas.openxmlformats.org/officeDocument/2006/relationships/image" Target="/ppt/media/image3.png" Id="R8c6ab01107b94e5e" /><Relationship Type="http://schemas.openxmlformats.org/officeDocument/2006/relationships/notesSlide" Target="/ppt/notesSlides/notesSlide4.xml" Id="R3d36dd21463346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52727a58f40fa" /><Relationship Type="http://schemas.openxmlformats.org/officeDocument/2006/relationships/image" Target="/ppt/media/image4.png" Id="Rbf8f5cde6f834679" /><Relationship Type="http://schemas.openxmlformats.org/officeDocument/2006/relationships/notesSlide" Target="/ppt/notesSlides/notesSlide5.xml" Id="R2dd527bbcca4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1">
            <a:extLst xmlns:a="http://schemas.openxmlformats.org/drawingml/2006/main">
              <a:ext uri="{FF2B5EF4-FFF2-40B4-BE49-F238E27FC236}">
                <a16:creationId xmlns:a16="http://schemas.microsoft.com/office/drawing/2014/main" id="{91736DCF-93E6-4925-86B1-78854EC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1">
            <a:extLst xmlns:a="http://schemas.openxmlformats.org/drawingml/2006/main">
              <a:ext uri="{FF2B5EF4-FFF2-40B4-BE49-F238E27FC236}">
                <a16:creationId xmlns:a16="http://schemas.microsoft.com/office/drawing/2014/main" id="{AA44CBD3-CC21-4D0D-AB08-5267FEEE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1">
            <a:extLst xmlns:a="http://schemas.openxmlformats.org/drawingml/2006/main">
              <a:ext uri="{FF2B5EF4-FFF2-40B4-BE49-F238E27FC236}">
                <a16:creationId xmlns:a16="http://schemas.microsoft.com/office/drawing/2014/main" id="{0BF8F794-3E24-4B22-B5FF-99458570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0C95C85F-9799-425F-BD46-BBB7514C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現場作業集中到同一治具工作台</a:t>
            </a:r>
          </a:p>
        </p:txBody>
      </p:sp>
      <p:sp>
        <p:nvSpPr>
          <p:cNvPr id="5" name="module-1">
            <a:extLst xmlns:a="http://schemas.openxmlformats.org/drawingml/2006/main">
              <a:ext uri="{FF2B5EF4-FFF2-40B4-BE49-F238E27FC236}">
                <a16:creationId xmlns:a16="http://schemas.microsoft.com/office/drawing/2014/main" id="{E1253878-923D-4A11-9472-DDC2A618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改善總覽</a:t>
            </a:r>
          </a:p>
        </p:txBody>
      </p:sp>
      <p:sp>
        <p:nvSpPr>
          <p:cNvPr id="6" name="header-line-1">
            <a:extLst xmlns:a="http://schemas.openxmlformats.org/drawingml/2006/main">
              <a:ext uri="{FF2B5EF4-FFF2-40B4-BE49-F238E27FC236}">
                <a16:creationId xmlns:a16="http://schemas.microsoft.com/office/drawing/2014/main" id="{517EE144-7BF9-4BD9-831F-0C0C76F8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1">
            <a:extLst xmlns:a="http://schemas.openxmlformats.org/drawingml/2006/main">
              <a:ext uri="{FF2B5EF4-FFF2-40B4-BE49-F238E27FC236}">
                <a16:creationId xmlns:a16="http://schemas.microsoft.com/office/drawing/2014/main" id="{D4E693B7-6464-4395-9C3A-17099A8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1">
            <a:extLst xmlns:a="http://schemas.openxmlformats.org/drawingml/2006/main">
              <a:ext uri="{FF2B5EF4-FFF2-40B4-BE49-F238E27FC236}">
                <a16:creationId xmlns:a16="http://schemas.microsoft.com/office/drawing/2014/main" id="{25E1DB80-6295-4A63-96F7-6CC1421E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庫存、查詢、產能與管理資料若分散在不同表單，現場需重複查找與交叉核對，難以快速取得一致答案。</a:t>
            </a:r>
          </a:p>
        </p:txBody>
      </p:sp>
      <p:sp>
        <p:nvSpPr>
          <p:cNvPr id="9" name="reason-line-1">
            <a:extLst xmlns:a="http://schemas.openxmlformats.org/drawingml/2006/main">
              <a:ext uri="{FF2B5EF4-FFF2-40B4-BE49-F238E27FC236}">
                <a16:creationId xmlns:a16="http://schemas.microsoft.com/office/drawing/2014/main" id="{FFD711F1-DFF6-44D4-8E84-8EE8FE9A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1">
            <a:extLst xmlns:a="http://schemas.openxmlformats.org/drawingml/2006/main">
              <a:ext uri="{FF2B5EF4-FFF2-40B4-BE49-F238E27FC236}">
                <a16:creationId xmlns:a16="http://schemas.microsoft.com/office/drawing/2014/main" id="{2EA8A623-4181-49B7-80E3-71F0E515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1">
            <a:extLst xmlns:a="http://schemas.openxmlformats.org/drawingml/2006/main">
              <a:ext uri="{FF2B5EF4-FFF2-40B4-BE49-F238E27FC236}">
                <a16:creationId xmlns:a16="http://schemas.microsoft.com/office/drawing/2014/main" id="{88745B63-3580-4A94-ABC5-99B9C651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1">
            <a:extLst xmlns:a="http://schemas.openxmlformats.org/drawingml/2006/main">
              <a:ext uri="{FF2B5EF4-FFF2-40B4-BE49-F238E27FC236}">
                <a16:creationId xmlns:a16="http://schemas.microsoft.com/office/drawing/2014/main" id="{D7701E84-AB00-408C-BFDE-FB4F1936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1">
            <a:extLst xmlns:a="http://schemas.openxmlformats.org/drawingml/2006/main">
              <a:ext uri="{FF2B5EF4-FFF2-40B4-BE49-F238E27FC236}">
                <a16:creationId xmlns:a16="http://schemas.microsoft.com/office/drawing/2014/main" id="{BDACC22E-3CDB-42A9-93C6-8660C89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1">
            <a:extLst xmlns:a="http://schemas.openxmlformats.org/drawingml/2006/main">
              <a:ext uri="{FF2B5EF4-FFF2-40B4-BE49-F238E27FC236}">
                <a16:creationId xmlns:a16="http://schemas.microsoft.com/office/drawing/2014/main" id="{1C649BD8-5B39-477F-B619-707EC408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1">
            <a:extLst xmlns:a="http://schemas.openxmlformats.org/drawingml/2006/main">
              <a:ext uri="{FF2B5EF4-FFF2-40B4-BE49-F238E27FC236}">
                <a16:creationId xmlns:a16="http://schemas.microsoft.com/office/drawing/2014/main" id="{82986C93-F7B8-402B-BA19-8A5C465E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1">
            <a:extLst xmlns:a="http://schemas.openxmlformats.org/drawingml/2006/main">
              <a:ext uri="{FF2B5EF4-FFF2-40B4-BE49-F238E27FC236}">
                <a16:creationId xmlns:a16="http://schemas.microsoft.com/office/drawing/2014/main" id="{F8FE7711-5052-4E2A-AC92-57097D7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資訊分散，流程靠人串接</a:t>
            </a:r>
          </a:p>
        </p:txBody>
      </p:sp>
      <p:sp>
        <p:nvSpPr>
          <p:cNvPr id="17" name="before-bullets-1">
            <a:extLst xmlns:a="http://schemas.openxmlformats.org/drawingml/2006/main">
              <a:ext uri="{FF2B5EF4-FFF2-40B4-BE49-F238E27FC236}">
                <a16:creationId xmlns:a16="http://schemas.microsoft.com/office/drawing/2014/main" id="{58E711DF-08A9-4EB7-80C5-EB6C73E6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收退料、庫存與產能分別查找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同一欄位在不同流程可能出現不同寫法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管理者與現場人員缺少一致的操作入口</a:t>
            </a:r>
          </a:p>
        </p:txBody>
      </p:sp>
      <p:sp>
        <p:nvSpPr>
          <p:cNvPr id="18" name="before-keywords-bg-1">
            <a:extLst xmlns:a="http://schemas.openxmlformats.org/drawingml/2006/main">
              <a:ext uri="{FF2B5EF4-FFF2-40B4-BE49-F238E27FC236}">
                <a16:creationId xmlns:a16="http://schemas.microsoft.com/office/drawing/2014/main" id="{1C2BDDAD-DD32-48DD-952E-4C5F94E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1">
            <a:extLst xmlns:a="http://schemas.openxmlformats.org/drawingml/2006/main">
              <a:ext uri="{FF2B5EF4-FFF2-40B4-BE49-F238E27FC236}">
                <a16:creationId xmlns:a16="http://schemas.microsoft.com/office/drawing/2014/main" id="{70489758-966A-43CC-AF6E-F0C548F8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多處查找　｜　重複輸入　｜　口頭確認</a:t>
            </a:r>
          </a:p>
        </p:txBody>
      </p:sp>
      <p:sp>
        <p:nvSpPr>
          <p:cNvPr id="20" name="after-surface-1">
            <a:extLst xmlns:a="http://schemas.openxmlformats.org/drawingml/2006/main">
              <a:ext uri="{FF2B5EF4-FFF2-40B4-BE49-F238E27FC236}">
                <a16:creationId xmlns:a16="http://schemas.microsoft.com/office/drawing/2014/main" id="{934974E1-FFDA-4BB1-B8E8-3AA70A08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1">
            <a:extLst xmlns:a="http://schemas.openxmlformats.org/drawingml/2006/main">
              <a:ext uri="{FF2B5EF4-FFF2-40B4-BE49-F238E27FC236}">
                <a16:creationId xmlns:a16="http://schemas.microsoft.com/office/drawing/2014/main" id="{47554F9B-2E57-477A-8914-A7FD906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0f8b4a583461b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1">
            <a:extLst xmlns:a="http://schemas.openxmlformats.org/drawingml/2006/main">
              <a:ext uri="{FF2B5EF4-FFF2-40B4-BE49-F238E27FC236}">
                <a16:creationId xmlns:a16="http://schemas.microsoft.com/office/drawing/2014/main" id="{72E29047-66F2-4DC7-A471-9ACAE57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搜尋、收退料、近期紀錄與現場資訊整合於同一工作台</a:t>
            </a:r>
          </a:p>
        </p:txBody>
      </p:sp>
      <p:sp>
        <p:nvSpPr>
          <p:cNvPr id="24" name="cost-cell-1-0-0">
            <a:extLst xmlns:a="http://schemas.openxmlformats.org/drawingml/2006/main">
              <a:ext uri="{FF2B5EF4-FFF2-40B4-BE49-F238E27FC236}">
                <a16:creationId xmlns:a16="http://schemas.microsoft.com/office/drawing/2014/main" id="{7115B8F8-842E-4867-B0AE-A95C600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1-0-0">
            <a:extLst xmlns:a="http://schemas.openxmlformats.org/drawingml/2006/main">
              <a:ext uri="{FF2B5EF4-FFF2-40B4-BE49-F238E27FC236}">
                <a16:creationId xmlns:a16="http://schemas.microsoft.com/office/drawing/2014/main" id="{D5DD0180-0B69-407F-944B-7FCB0A5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1-0-1">
            <a:extLst xmlns:a="http://schemas.openxmlformats.org/drawingml/2006/main">
              <a:ext uri="{FF2B5EF4-FFF2-40B4-BE49-F238E27FC236}">
                <a16:creationId xmlns:a16="http://schemas.microsoft.com/office/drawing/2014/main" id="{F19CBB35-6AFF-49B0-B8AF-F3C3D817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1-0-1">
            <a:extLst xmlns:a="http://schemas.openxmlformats.org/drawingml/2006/main">
              <a:ext uri="{FF2B5EF4-FFF2-40B4-BE49-F238E27FC236}">
                <a16:creationId xmlns:a16="http://schemas.microsoft.com/office/drawing/2014/main" id="{E641CAFA-A4B8-4DD0-B959-E732BC6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1-0-2">
            <a:extLst xmlns:a="http://schemas.openxmlformats.org/drawingml/2006/main">
              <a:ext uri="{FF2B5EF4-FFF2-40B4-BE49-F238E27FC236}">
                <a16:creationId xmlns:a16="http://schemas.microsoft.com/office/drawing/2014/main" id="{71FDC143-0A59-4D95-8CCE-E1DEF19C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1-0-2">
            <a:extLst xmlns:a="http://schemas.openxmlformats.org/drawingml/2006/main">
              <a:ext uri="{FF2B5EF4-FFF2-40B4-BE49-F238E27FC236}">
                <a16:creationId xmlns:a16="http://schemas.microsoft.com/office/drawing/2014/main" id="{820F64D0-1840-4142-9F20-F5E01B2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1-1-0">
            <a:extLst xmlns:a="http://schemas.openxmlformats.org/drawingml/2006/main">
              <a:ext uri="{FF2B5EF4-FFF2-40B4-BE49-F238E27FC236}">
                <a16:creationId xmlns:a16="http://schemas.microsoft.com/office/drawing/2014/main" id="{8BE14755-580D-49F3-BB7E-37C086D9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1-1-0">
            <a:extLst xmlns:a="http://schemas.openxmlformats.org/drawingml/2006/main">
              <a:ext uri="{FF2B5EF4-FFF2-40B4-BE49-F238E27FC236}">
                <a16:creationId xmlns:a16="http://schemas.microsoft.com/office/drawing/2014/main" id="{A0027A53-4E67-4BFC-AAF3-1640B4C2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1-1-1">
            <a:extLst xmlns:a="http://schemas.openxmlformats.org/drawingml/2006/main">
              <a:ext uri="{FF2B5EF4-FFF2-40B4-BE49-F238E27FC236}">
                <a16:creationId xmlns:a16="http://schemas.microsoft.com/office/drawing/2014/main" id="{808F13C0-9029-4C66-A07D-C374517F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1-1-1">
            <a:extLst xmlns:a="http://schemas.openxmlformats.org/drawingml/2006/main">
              <a:ext uri="{FF2B5EF4-FFF2-40B4-BE49-F238E27FC236}">
                <a16:creationId xmlns:a16="http://schemas.microsoft.com/office/drawing/2014/main" id="{E375261B-5836-4A71-89A1-C494F6C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跨頁查資料、人工彙整</a:t>
            </a:r>
          </a:p>
        </p:txBody>
      </p:sp>
      <p:sp>
        <p:nvSpPr>
          <p:cNvPr id="34" name="cost-cell-1-1-2">
            <a:extLst xmlns:a="http://schemas.openxmlformats.org/drawingml/2006/main">
              <a:ext uri="{FF2B5EF4-FFF2-40B4-BE49-F238E27FC236}">
                <a16:creationId xmlns:a16="http://schemas.microsoft.com/office/drawing/2014/main" id="{6BAF4E76-5BE6-4F78-922B-94A1EBC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1-1-2">
            <a:extLst xmlns:a="http://schemas.openxmlformats.org/drawingml/2006/main">
              <a:ext uri="{FF2B5EF4-FFF2-40B4-BE49-F238E27FC236}">
                <a16:creationId xmlns:a16="http://schemas.microsoft.com/office/drawing/2014/main" id="{4CEEDB79-AE80-4D3C-AE8E-CF50919E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共用工作台與快捷入口，減少來回查找</a:t>
            </a:r>
          </a:p>
        </p:txBody>
      </p:sp>
      <p:sp>
        <p:nvSpPr>
          <p:cNvPr id="36" name="cost-cell-1-2-0">
            <a:extLst xmlns:a="http://schemas.openxmlformats.org/drawingml/2006/main">
              <a:ext uri="{FF2B5EF4-FFF2-40B4-BE49-F238E27FC236}">
                <a16:creationId xmlns:a16="http://schemas.microsoft.com/office/drawing/2014/main" id="{F9FDDB2D-1C0D-4C8D-AB00-B26474F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1-2-0">
            <a:extLst xmlns:a="http://schemas.openxmlformats.org/drawingml/2006/main">
              <a:ext uri="{FF2B5EF4-FFF2-40B4-BE49-F238E27FC236}">
                <a16:creationId xmlns:a16="http://schemas.microsoft.com/office/drawing/2014/main" id="{242B756B-41A0-431B-890C-C1A19DC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1-2-1">
            <a:extLst xmlns:a="http://schemas.openxmlformats.org/drawingml/2006/main">
              <a:ext uri="{FF2B5EF4-FFF2-40B4-BE49-F238E27FC236}">
                <a16:creationId xmlns:a16="http://schemas.microsoft.com/office/drawing/2014/main" id="{E5D4B993-806B-4283-8D70-052639B3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1-2-1">
            <a:extLst xmlns:a="http://schemas.openxmlformats.org/drawingml/2006/main">
              <a:ext uri="{FF2B5EF4-FFF2-40B4-BE49-F238E27FC236}">
                <a16:creationId xmlns:a16="http://schemas.microsoft.com/office/drawing/2014/main" id="{3A90CE91-8FDD-43FE-AD64-315E161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資料口徑不一，需人工核對</a:t>
            </a:r>
          </a:p>
        </p:txBody>
      </p:sp>
      <p:sp>
        <p:nvSpPr>
          <p:cNvPr id="40" name="cost-cell-1-2-2">
            <a:extLst xmlns:a="http://schemas.openxmlformats.org/drawingml/2006/main">
              <a:ext uri="{FF2B5EF4-FFF2-40B4-BE49-F238E27FC236}">
                <a16:creationId xmlns:a16="http://schemas.microsoft.com/office/drawing/2014/main" id="{27C8B45B-B914-40B9-BEBD-A3F27450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1-2-2">
            <a:extLst xmlns:a="http://schemas.openxmlformats.org/drawingml/2006/main">
              <a:ext uri="{FF2B5EF4-FFF2-40B4-BE49-F238E27FC236}">
                <a16:creationId xmlns:a16="http://schemas.microsoft.com/office/drawing/2014/main" id="{8A09E22A-3525-4760-A5C8-AA861238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統一契約、後端規則與角色權限</a:t>
            </a:r>
          </a:p>
        </p:txBody>
      </p:sp>
      <p:sp>
        <p:nvSpPr>
          <p:cNvPr id="42" name="cost-cell-1-3-0">
            <a:extLst xmlns:a="http://schemas.openxmlformats.org/drawingml/2006/main">
              <a:ext uri="{FF2B5EF4-FFF2-40B4-BE49-F238E27FC236}">
                <a16:creationId xmlns:a16="http://schemas.microsoft.com/office/drawing/2014/main" id="{82EEEDC9-C5BD-4D82-9137-F2033031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1-3-0">
            <a:extLst xmlns:a="http://schemas.openxmlformats.org/drawingml/2006/main">
              <a:ext uri="{FF2B5EF4-FFF2-40B4-BE49-F238E27FC236}">
                <a16:creationId xmlns:a16="http://schemas.microsoft.com/office/drawing/2014/main" id="{5062D77E-B6BA-4DCD-AF25-1A22AEA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1-3-1">
            <a:extLst xmlns:a="http://schemas.openxmlformats.org/drawingml/2006/main">
              <a:ext uri="{FF2B5EF4-FFF2-40B4-BE49-F238E27FC236}">
                <a16:creationId xmlns:a16="http://schemas.microsoft.com/office/drawing/2014/main" id="{FC5E7DCF-2817-42DC-AE11-DECE537A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1-3-1">
            <a:extLst xmlns:a="http://schemas.openxmlformats.org/drawingml/2006/main">
              <a:ext uri="{FF2B5EF4-FFF2-40B4-BE49-F238E27FC236}">
                <a16:creationId xmlns:a16="http://schemas.microsoft.com/office/drawing/2014/main" id="{4A728EF2-6214-4A87-B374-6EFB81A7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功能入口分散，學習路徑長</a:t>
            </a:r>
          </a:p>
        </p:txBody>
      </p:sp>
      <p:sp>
        <p:nvSpPr>
          <p:cNvPr id="46" name="cost-cell-1-3-2">
            <a:extLst xmlns:a="http://schemas.openxmlformats.org/drawingml/2006/main">
              <a:ext uri="{FF2B5EF4-FFF2-40B4-BE49-F238E27FC236}">
                <a16:creationId xmlns:a16="http://schemas.microsoft.com/office/drawing/2014/main" id="{E38B4591-4C12-4D6A-97C3-E738A490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1-3-2">
            <a:extLst xmlns:a="http://schemas.openxmlformats.org/drawingml/2006/main">
              <a:ext uri="{FF2B5EF4-FFF2-40B4-BE49-F238E27FC236}">
                <a16:creationId xmlns:a16="http://schemas.microsoft.com/office/drawing/2014/main" id="{F9A0C46F-1A11-49C1-92FF-27286D32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Modern／Form／Workbench 共用核心流程</a:t>
            </a:r>
          </a:p>
        </p:txBody>
      </p:sp>
      <p:sp>
        <p:nvSpPr>
          <p:cNvPr id="48" name="footer-1">
            <a:extLst xmlns:a="http://schemas.openxmlformats.org/drawingml/2006/main">
              <a:ext uri="{FF2B5EF4-FFF2-40B4-BE49-F238E27FC236}">
                <a16:creationId xmlns:a16="http://schemas.microsoft.com/office/drawing/2014/main" id="{5C9BC6BF-1446-427A-99AA-485DB0BD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1">
            <a:extLst xmlns:a="http://schemas.openxmlformats.org/drawingml/2006/main">
              <a:ext uri="{FF2B5EF4-FFF2-40B4-BE49-F238E27FC236}">
                <a16:creationId xmlns:a16="http://schemas.microsoft.com/office/drawing/2014/main" id="{967F064C-BC25-4F2B-B6EE-4DBFE81F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1">
            <a:extLst xmlns:a="http://schemas.openxmlformats.org/drawingml/2006/main">
              <a:ext uri="{FF2B5EF4-FFF2-40B4-BE49-F238E27FC236}">
                <a16:creationId xmlns:a16="http://schemas.microsoft.com/office/drawing/2014/main" id="{0F2A8756-BD2B-4427-BBDB-9B6FA030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1">
            <a:extLst xmlns:a="http://schemas.openxmlformats.org/drawingml/2006/main">
              <a:ext uri="{FF2B5EF4-FFF2-40B4-BE49-F238E27FC236}">
                <a16:creationId xmlns:a16="http://schemas.microsoft.com/office/drawing/2014/main" id="{B6BBFECE-13C3-4951-B72C-25634DAD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0274D3A9-859E-418E-B85E-7676C7C6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1">
            <a:extLst xmlns:a="http://schemas.openxmlformats.org/drawingml/2006/main">
              <a:ext uri="{FF2B5EF4-FFF2-40B4-BE49-F238E27FC236}">
                <a16:creationId xmlns:a16="http://schemas.microsoft.com/office/drawing/2014/main" id="{34E98740-D605-4BB7-BC68-290622E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30E136B9-FDB3-442E-98F7-4588FE29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530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2">
            <a:extLst xmlns:a="http://schemas.openxmlformats.org/drawingml/2006/main">
              <a:ext uri="{FF2B5EF4-FFF2-40B4-BE49-F238E27FC236}">
                <a16:creationId xmlns:a16="http://schemas.microsoft.com/office/drawing/2014/main" id="{2972D5FB-AACA-4DB5-853F-B4C7295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2">
            <a:extLst xmlns:a="http://schemas.openxmlformats.org/drawingml/2006/main">
              <a:ext uri="{FF2B5EF4-FFF2-40B4-BE49-F238E27FC236}">
                <a16:creationId xmlns:a16="http://schemas.microsoft.com/office/drawing/2014/main" id="{649A3774-A084-4D3A-92C7-C9615EC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2">
            <a:extLst xmlns:a="http://schemas.openxmlformats.org/drawingml/2006/main">
              <a:ext uri="{FF2B5EF4-FFF2-40B4-BE49-F238E27FC236}">
                <a16:creationId xmlns:a16="http://schemas.microsoft.com/office/drawing/2014/main" id="{5B4B3E12-9059-49AD-A47A-131F3E0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9FCC1846-6945-41DA-B0BD-B11D155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收退料由逐筆登錄改為批次校驗</a:t>
            </a:r>
          </a:p>
        </p:txBody>
      </p:sp>
      <p:sp>
        <p:nvSpPr>
          <p:cNvPr id="5" name="module-2">
            <a:extLst xmlns:a="http://schemas.openxmlformats.org/drawingml/2006/main">
              <a:ext uri="{FF2B5EF4-FFF2-40B4-BE49-F238E27FC236}">
                <a16:creationId xmlns:a16="http://schemas.microsoft.com/office/drawing/2014/main" id="{C4CF3004-8C66-4A9F-9E99-6B8005A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庫存管理</a:t>
            </a:r>
          </a:p>
        </p:txBody>
      </p:sp>
      <p:sp>
        <p:nvSpPr>
          <p:cNvPr id="6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91CBB2CE-5256-47B8-9FFE-684B85F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2">
            <a:extLst xmlns:a="http://schemas.openxmlformats.org/drawingml/2006/main">
              <a:ext uri="{FF2B5EF4-FFF2-40B4-BE49-F238E27FC236}">
                <a16:creationId xmlns:a16="http://schemas.microsoft.com/office/drawing/2014/main" id="{7A5D31BF-8B5C-419D-81AE-0E6FF31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2">
            <a:extLst xmlns:a="http://schemas.openxmlformats.org/drawingml/2006/main">
              <a:ext uri="{FF2B5EF4-FFF2-40B4-BE49-F238E27FC236}">
                <a16:creationId xmlns:a16="http://schemas.microsoft.com/office/drawing/2014/main" id="{A50FD392-E16D-4CC7-8445-D319F38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大量收料與退料若逐筆輸入，容易在治具編號、datecode／編號、來源與數量欄位發生漏填或格式不一致。</a:t>
            </a:r>
          </a:p>
        </p:txBody>
      </p:sp>
      <p:sp>
        <p:nvSpPr>
          <p:cNvPr id="9" name="reason-line-2">
            <a:extLst xmlns:a="http://schemas.openxmlformats.org/drawingml/2006/main">
              <a:ext uri="{FF2B5EF4-FFF2-40B4-BE49-F238E27FC236}">
                <a16:creationId xmlns:a16="http://schemas.microsoft.com/office/drawing/2014/main" id="{2D69651B-BF08-4CED-9046-694D6FC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2">
            <a:extLst xmlns:a="http://schemas.openxmlformats.org/drawingml/2006/main">
              <a:ext uri="{FF2B5EF4-FFF2-40B4-BE49-F238E27FC236}">
                <a16:creationId xmlns:a16="http://schemas.microsoft.com/office/drawing/2014/main" id="{725E231C-034D-45E2-8C0A-742566D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2">
            <a:extLst xmlns:a="http://schemas.openxmlformats.org/drawingml/2006/main">
              <a:ext uri="{FF2B5EF4-FFF2-40B4-BE49-F238E27FC236}">
                <a16:creationId xmlns:a16="http://schemas.microsoft.com/office/drawing/2014/main" id="{588DE5C3-9A6B-4984-B217-03444383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2">
            <a:extLst xmlns:a="http://schemas.openxmlformats.org/drawingml/2006/main">
              <a:ext uri="{FF2B5EF4-FFF2-40B4-BE49-F238E27FC236}">
                <a16:creationId xmlns:a16="http://schemas.microsoft.com/office/drawing/2014/main" id="{3352038C-1EBC-4996-873C-E37F74F4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2">
            <a:extLst xmlns:a="http://schemas.openxmlformats.org/drawingml/2006/main">
              <a:ext uri="{FF2B5EF4-FFF2-40B4-BE49-F238E27FC236}">
                <a16:creationId xmlns:a16="http://schemas.microsoft.com/office/drawing/2014/main" id="{CDE608D1-8A6D-4B04-8116-9032F32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2">
            <a:extLst xmlns:a="http://schemas.openxmlformats.org/drawingml/2006/main">
              <a:ext uri="{FF2B5EF4-FFF2-40B4-BE49-F238E27FC236}">
                <a16:creationId xmlns:a16="http://schemas.microsoft.com/office/drawing/2014/main" id="{45CDFE85-0856-4136-800B-F85F37B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2">
            <a:extLst xmlns:a="http://schemas.openxmlformats.org/drawingml/2006/main">
              <a:ext uri="{FF2B5EF4-FFF2-40B4-BE49-F238E27FC236}">
                <a16:creationId xmlns:a16="http://schemas.microsoft.com/office/drawing/2014/main" id="{0E42C681-9310-4F2F-83CD-61F4605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2">
            <a:extLst xmlns:a="http://schemas.openxmlformats.org/drawingml/2006/main">
              <a:ext uri="{FF2B5EF4-FFF2-40B4-BE49-F238E27FC236}">
                <a16:creationId xmlns:a16="http://schemas.microsoft.com/office/drawing/2014/main" id="{6D8FDE39-5EEF-4EE0-AF28-E9217FA8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逐筆輸入，核對成本高</a:t>
            </a:r>
          </a:p>
        </p:txBody>
      </p:sp>
      <p:sp>
        <p:nvSpPr>
          <p:cNvPr id="17" name="before-bullets-2">
            <a:extLst xmlns:a="http://schemas.openxmlformats.org/drawingml/2006/main">
              <a:ext uri="{FF2B5EF4-FFF2-40B4-BE49-F238E27FC236}">
                <a16:creationId xmlns:a16="http://schemas.microsoft.com/office/drawing/2014/main" id="{260D2994-1763-4921-BED7-9666188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大量資料需要重複鍵入相同欄位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短數字識別碼可能出現 1、01、0001 等差異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匯入衝突或錯誤不易在送出前集中確認</a:t>
            </a:r>
          </a:p>
        </p:txBody>
      </p:sp>
      <p:sp>
        <p:nvSpPr>
          <p:cNvPr id="18" name="before-keywords-bg-2">
            <a:extLst xmlns:a="http://schemas.openxmlformats.org/drawingml/2006/main">
              <a:ext uri="{FF2B5EF4-FFF2-40B4-BE49-F238E27FC236}">
                <a16:creationId xmlns:a16="http://schemas.microsoft.com/office/drawing/2014/main" id="{882B77DD-0D65-4C32-9980-ACF2BC2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2">
            <a:extLst xmlns:a="http://schemas.openxmlformats.org/drawingml/2006/main">
              <a:ext uri="{FF2B5EF4-FFF2-40B4-BE49-F238E27FC236}">
                <a16:creationId xmlns:a16="http://schemas.microsoft.com/office/drawing/2014/main" id="{9BCC754D-14E6-4940-82B8-3F8A419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逐筆登錄　｜　格式不一　｜　事後修正</a:t>
            </a:r>
          </a:p>
        </p:txBody>
      </p:sp>
      <p:sp>
        <p:nvSpPr>
          <p:cNvPr id="20" name="after-surface-2">
            <a:extLst xmlns:a="http://schemas.openxmlformats.org/drawingml/2006/main">
              <a:ext uri="{FF2B5EF4-FFF2-40B4-BE49-F238E27FC236}">
                <a16:creationId xmlns:a16="http://schemas.microsoft.com/office/drawing/2014/main" id="{C3AEDEC7-BA20-40EC-A723-10F7F9A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2">
            <a:extLst xmlns:a="http://schemas.openxmlformats.org/drawingml/2006/main">
              <a:ext uri="{FF2B5EF4-FFF2-40B4-BE49-F238E27FC236}">
                <a16:creationId xmlns:a16="http://schemas.microsoft.com/office/drawing/2014/main" id="{CA63A81F-A49C-4FB7-BEA5-90AFF0ED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79f41832d4e2a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2">
            <a:extLst xmlns:a="http://schemas.openxmlformats.org/drawingml/2006/main">
              <a:ext uri="{FF2B5EF4-FFF2-40B4-BE49-F238E27FC236}">
                <a16:creationId xmlns:a16="http://schemas.microsoft.com/office/drawing/2014/main" id="{07DD4A13-BB7B-4171-A834-DD7FA6D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批次貼上、預覽校驗、統一 identifier 規則與帳目追溯</a:t>
            </a:r>
          </a:p>
        </p:txBody>
      </p:sp>
      <p:sp>
        <p:nvSpPr>
          <p:cNvPr id="24" name="cost-cell-2-0-0">
            <a:extLst xmlns:a="http://schemas.openxmlformats.org/drawingml/2006/main">
              <a:ext uri="{FF2B5EF4-FFF2-40B4-BE49-F238E27FC236}">
                <a16:creationId xmlns:a16="http://schemas.microsoft.com/office/drawing/2014/main" id="{C592CEA4-E4C6-4059-8EC0-677677C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2-0-0">
            <a:extLst xmlns:a="http://schemas.openxmlformats.org/drawingml/2006/main">
              <a:ext uri="{FF2B5EF4-FFF2-40B4-BE49-F238E27FC236}">
                <a16:creationId xmlns:a16="http://schemas.microsoft.com/office/drawing/2014/main" id="{79940685-D208-4EB8-99AC-BBE8EFE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2-0-1">
            <a:extLst xmlns:a="http://schemas.openxmlformats.org/drawingml/2006/main">
              <a:ext uri="{FF2B5EF4-FFF2-40B4-BE49-F238E27FC236}">
                <a16:creationId xmlns:a16="http://schemas.microsoft.com/office/drawing/2014/main" id="{3EF3A608-CE5E-47C5-9E96-38BC5AF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2-0-1">
            <a:extLst xmlns:a="http://schemas.openxmlformats.org/drawingml/2006/main">
              <a:ext uri="{FF2B5EF4-FFF2-40B4-BE49-F238E27FC236}">
                <a16:creationId xmlns:a16="http://schemas.microsoft.com/office/drawing/2014/main" id="{478FE02A-43F7-4CE0-9DC4-C6D9F895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2-0-2">
            <a:extLst xmlns:a="http://schemas.openxmlformats.org/drawingml/2006/main">
              <a:ext uri="{FF2B5EF4-FFF2-40B4-BE49-F238E27FC236}">
                <a16:creationId xmlns:a16="http://schemas.microsoft.com/office/drawing/2014/main" id="{858CDCD2-2920-4FFD-BC27-98704265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2-0-2">
            <a:extLst xmlns:a="http://schemas.openxmlformats.org/drawingml/2006/main">
              <a:ext uri="{FF2B5EF4-FFF2-40B4-BE49-F238E27FC236}">
                <a16:creationId xmlns:a16="http://schemas.microsoft.com/office/drawing/2014/main" id="{49CFEE3C-2EE4-4044-8510-114903B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2-1-0">
            <a:extLst xmlns:a="http://schemas.openxmlformats.org/drawingml/2006/main">
              <a:ext uri="{FF2B5EF4-FFF2-40B4-BE49-F238E27FC236}">
                <a16:creationId xmlns:a16="http://schemas.microsoft.com/office/drawing/2014/main" id="{66196BE1-0B34-4A8E-8F50-98F147D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2-1-0">
            <a:extLst xmlns:a="http://schemas.openxmlformats.org/drawingml/2006/main">
              <a:ext uri="{FF2B5EF4-FFF2-40B4-BE49-F238E27FC236}">
                <a16:creationId xmlns:a16="http://schemas.microsoft.com/office/drawing/2014/main" id="{99045F6A-B55F-485C-A289-FB15AC7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2-1-1">
            <a:extLst xmlns:a="http://schemas.openxmlformats.org/drawingml/2006/main">
              <a:ext uri="{FF2B5EF4-FFF2-40B4-BE49-F238E27FC236}">
                <a16:creationId xmlns:a16="http://schemas.microsoft.com/office/drawing/2014/main" id="{FD549340-7D21-4C6A-839D-D57BF86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2-1-1">
            <a:extLst xmlns:a="http://schemas.openxmlformats.org/drawingml/2006/main">
              <a:ext uri="{FF2B5EF4-FFF2-40B4-BE49-F238E27FC236}">
                <a16:creationId xmlns:a16="http://schemas.microsoft.com/office/drawing/2014/main" id="{6CE04101-9345-4E58-81C5-E86588BD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逐筆登錄與重複核對</a:t>
            </a:r>
          </a:p>
        </p:txBody>
      </p:sp>
      <p:sp>
        <p:nvSpPr>
          <p:cNvPr id="34" name="cost-cell-2-1-2">
            <a:extLst xmlns:a="http://schemas.openxmlformats.org/drawingml/2006/main">
              <a:ext uri="{FF2B5EF4-FFF2-40B4-BE49-F238E27FC236}">
                <a16:creationId xmlns:a16="http://schemas.microsoft.com/office/drawing/2014/main" id="{ED27A8AD-3636-4AE1-AEED-B2E6A6F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2-1-2">
            <a:extLst xmlns:a="http://schemas.openxmlformats.org/drawingml/2006/main">
              <a:ext uri="{FF2B5EF4-FFF2-40B4-BE49-F238E27FC236}">
                <a16:creationId xmlns:a16="http://schemas.microsoft.com/office/drawing/2014/main" id="{5AA123DC-E6E1-44BB-8A61-DCAB2BC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試算表式批次貼上，一次處理多列</a:t>
            </a:r>
          </a:p>
        </p:txBody>
      </p:sp>
      <p:sp>
        <p:nvSpPr>
          <p:cNvPr id="36" name="cost-cell-2-2-0">
            <a:extLst xmlns:a="http://schemas.openxmlformats.org/drawingml/2006/main">
              <a:ext uri="{FF2B5EF4-FFF2-40B4-BE49-F238E27FC236}">
                <a16:creationId xmlns:a16="http://schemas.microsoft.com/office/drawing/2014/main" id="{FB0B1F3C-DB85-4C07-A271-4BFABC70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2-2-0">
            <a:extLst xmlns:a="http://schemas.openxmlformats.org/drawingml/2006/main">
              <a:ext uri="{FF2B5EF4-FFF2-40B4-BE49-F238E27FC236}">
                <a16:creationId xmlns:a16="http://schemas.microsoft.com/office/drawing/2014/main" id="{58ACF702-D53C-4FAC-AF57-6AB3CBE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2-2-1">
            <a:extLst xmlns:a="http://schemas.openxmlformats.org/drawingml/2006/main">
              <a:ext uri="{FF2B5EF4-FFF2-40B4-BE49-F238E27FC236}">
                <a16:creationId xmlns:a16="http://schemas.microsoft.com/office/drawing/2014/main" id="{87AF67C8-5385-456D-BB1B-B57F336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2-2-1">
            <a:extLst xmlns:a="http://schemas.openxmlformats.org/drawingml/2006/main">
              <a:ext uri="{FF2B5EF4-FFF2-40B4-BE49-F238E27FC236}">
                <a16:creationId xmlns:a16="http://schemas.microsoft.com/office/drawing/2014/main" id="{84424C63-36CF-40CF-B968-E6AE06B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識別碼格式不一、欄位遺漏</a:t>
            </a:r>
          </a:p>
        </p:txBody>
      </p:sp>
      <p:sp>
        <p:nvSpPr>
          <p:cNvPr id="40" name="cost-cell-2-2-2">
            <a:extLst xmlns:a="http://schemas.openxmlformats.org/drawingml/2006/main">
              <a:ext uri="{FF2B5EF4-FFF2-40B4-BE49-F238E27FC236}">
                <a16:creationId xmlns:a16="http://schemas.microsoft.com/office/drawing/2014/main" id="{EA97F73A-202F-4EC3-8249-1D503ECD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2-2-2">
            <a:extLst xmlns:a="http://schemas.openxmlformats.org/drawingml/2006/main">
              <a:ext uri="{FF2B5EF4-FFF2-40B4-BE49-F238E27FC236}">
                <a16:creationId xmlns:a16="http://schemas.microsoft.com/office/drawing/2014/main" id="{070700E0-B8F0-4B68-86D7-C7AEA41E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前後端共用正規化與欄位驗證</a:t>
            </a:r>
          </a:p>
        </p:txBody>
      </p:sp>
      <p:sp>
        <p:nvSpPr>
          <p:cNvPr id="42" name="cost-cell-2-3-0">
            <a:extLst xmlns:a="http://schemas.openxmlformats.org/drawingml/2006/main">
              <a:ext uri="{FF2B5EF4-FFF2-40B4-BE49-F238E27FC236}">
                <a16:creationId xmlns:a16="http://schemas.microsoft.com/office/drawing/2014/main" id="{FA18FF83-3506-4083-8123-C499BD4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2-3-0">
            <a:extLst xmlns:a="http://schemas.openxmlformats.org/drawingml/2006/main">
              <a:ext uri="{FF2B5EF4-FFF2-40B4-BE49-F238E27FC236}">
                <a16:creationId xmlns:a16="http://schemas.microsoft.com/office/drawing/2014/main" id="{4D20AF2F-E179-426A-804F-44A9A2F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2-3-1">
            <a:extLst xmlns:a="http://schemas.openxmlformats.org/drawingml/2006/main">
              <a:ext uri="{FF2B5EF4-FFF2-40B4-BE49-F238E27FC236}">
                <a16:creationId xmlns:a16="http://schemas.microsoft.com/office/drawing/2014/main" id="{43EA833E-AE0F-40FC-9442-74853002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2-3-1">
            <a:extLst xmlns:a="http://schemas.openxmlformats.org/drawingml/2006/main">
              <a:ext uri="{FF2B5EF4-FFF2-40B4-BE49-F238E27FC236}">
                <a16:creationId xmlns:a16="http://schemas.microsoft.com/office/drawing/2014/main" id="{CD3A0F8E-EAD6-4B0A-A5EE-A412867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錯誤送出後才回頭修正</a:t>
            </a:r>
          </a:p>
        </p:txBody>
      </p:sp>
      <p:sp>
        <p:nvSpPr>
          <p:cNvPr id="46" name="cost-cell-2-3-2">
            <a:extLst xmlns:a="http://schemas.openxmlformats.org/drawingml/2006/main">
              <a:ext uri="{FF2B5EF4-FFF2-40B4-BE49-F238E27FC236}">
                <a16:creationId xmlns:a16="http://schemas.microsoft.com/office/drawing/2014/main" id="{ECCA6B34-BD82-4461-9728-BF86530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2-3-2">
            <a:extLst xmlns:a="http://schemas.openxmlformats.org/drawingml/2006/main">
              <a:ext uri="{FF2B5EF4-FFF2-40B4-BE49-F238E27FC236}">
                <a16:creationId xmlns:a16="http://schemas.microsoft.com/office/drawing/2014/main" id="{0A96FA6D-431C-43C0-81AB-6296F5F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送出前預覽；衝突與錯誤逐列提示</a:t>
            </a:r>
          </a:p>
        </p:txBody>
      </p:sp>
      <p:sp>
        <p:nvSpPr>
          <p:cNvPr id="48" name="footer-2">
            <a:extLst xmlns:a="http://schemas.openxmlformats.org/drawingml/2006/main">
              <a:ext uri="{FF2B5EF4-FFF2-40B4-BE49-F238E27FC236}">
                <a16:creationId xmlns:a16="http://schemas.microsoft.com/office/drawing/2014/main" id="{A9BEB3CB-EE99-4E35-BF81-275E85E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2">
            <a:extLst xmlns:a="http://schemas.openxmlformats.org/drawingml/2006/main">
              <a:ext uri="{FF2B5EF4-FFF2-40B4-BE49-F238E27FC236}">
                <a16:creationId xmlns:a16="http://schemas.microsoft.com/office/drawing/2014/main" id="{47DB1F81-FCFB-4BBC-AFBF-BC05DFD8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2">
            <a:extLst xmlns:a="http://schemas.openxmlformats.org/drawingml/2006/main">
              <a:ext uri="{FF2B5EF4-FFF2-40B4-BE49-F238E27FC236}">
                <a16:creationId xmlns:a16="http://schemas.microsoft.com/office/drawing/2014/main" id="{9240543F-306F-453D-8F74-B1B4842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2">
            <a:extLst xmlns:a="http://schemas.openxmlformats.org/drawingml/2006/main">
              <a:ext uri="{FF2B5EF4-FFF2-40B4-BE49-F238E27FC236}">
                <a16:creationId xmlns:a16="http://schemas.microsoft.com/office/drawing/2014/main" id="{9025837D-197A-4AE6-841C-9E96687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B1186140-7D6A-4D64-BD63-C703137D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2">
            <a:extLst xmlns:a="http://schemas.openxmlformats.org/drawingml/2006/main">
              <a:ext uri="{FF2B5EF4-FFF2-40B4-BE49-F238E27FC236}">
                <a16:creationId xmlns:a16="http://schemas.microsoft.com/office/drawing/2014/main" id="{F878A51D-D54E-4C4A-9B38-032D8CE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62CB68E-55AB-4F80-921F-2C37BDFD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3635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left-accent-3">
            <a:extLst xmlns:a="http://schemas.openxmlformats.org/drawingml/2006/main">
              <a:ext uri="{FF2B5EF4-FFF2-40B4-BE49-F238E27FC236}">
                <a16:creationId xmlns:a16="http://schemas.microsoft.com/office/drawing/2014/main" id="{F7DFFE8C-0BF1-4EEF-9D62-906B8DC8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3">
            <a:extLst xmlns:a="http://schemas.openxmlformats.org/drawingml/2006/main">
              <a:ext uri="{FF2B5EF4-FFF2-40B4-BE49-F238E27FC236}">
                <a16:creationId xmlns:a16="http://schemas.microsoft.com/office/drawing/2014/main" id="{8415A252-9E76-4609-AB8F-012EFDA5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3">
            <a:extLst xmlns:a="http://schemas.openxmlformats.org/drawingml/2006/main">
              <a:ext uri="{FF2B5EF4-FFF2-40B4-BE49-F238E27FC236}">
                <a16:creationId xmlns:a16="http://schemas.microsoft.com/office/drawing/2014/main" id="{75120072-CBFD-420B-B941-C6D1364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474CA718-EE0D-4BA1-A29C-AAFA6338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可開站數改由完整需求的瓶頸決定</a:t>
            </a:r>
          </a:p>
        </p:txBody>
      </p:sp>
      <p:sp>
        <p:nvSpPr>
          <p:cNvPr id="5" name="module-3">
            <a:extLst xmlns:a="http://schemas.openxmlformats.org/drawingml/2006/main">
              <a:ext uri="{FF2B5EF4-FFF2-40B4-BE49-F238E27FC236}">
                <a16:creationId xmlns:a16="http://schemas.microsoft.com/office/drawing/2014/main" id="{143D2851-C637-4FF2-BE6E-16C43D4A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生產能力</a:t>
            </a:r>
          </a:p>
        </p:txBody>
      </p:sp>
      <p:sp>
        <p:nvSpPr>
          <p:cNvPr id="6" name="header-line-3">
            <a:extLst xmlns:a="http://schemas.openxmlformats.org/drawingml/2006/main">
              <a:ext uri="{FF2B5EF4-FFF2-40B4-BE49-F238E27FC236}">
                <a16:creationId xmlns:a16="http://schemas.microsoft.com/office/drawing/2014/main" id="{1F2556E9-2639-4103-A208-FDE2B911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3">
            <a:extLst xmlns:a="http://schemas.openxmlformats.org/drawingml/2006/main">
              <a:ext uri="{FF2B5EF4-FFF2-40B4-BE49-F238E27FC236}">
                <a16:creationId xmlns:a16="http://schemas.microsoft.com/office/drawing/2014/main" id="{E4116FED-B950-46E2-93BF-D5EE5C2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3">
            <a:extLst xmlns:a="http://schemas.openxmlformats.org/drawingml/2006/main">
              <a:ext uri="{FF2B5EF4-FFF2-40B4-BE49-F238E27FC236}">
                <a16:creationId xmlns:a16="http://schemas.microsoft.com/office/drawing/2014/main" id="{F6672BD4-979A-4D2C-8157-AD677B63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同一站點可被多個機種共用；若只依站點或單一治具庫存估算，會忽略機種別需求與真正的瓶頸治具。</a:t>
            </a:r>
          </a:p>
        </p:txBody>
      </p:sp>
      <p:sp>
        <p:nvSpPr>
          <p:cNvPr id="9" name="reason-line-3">
            <a:extLst xmlns:a="http://schemas.openxmlformats.org/drawingml/2006/main">
              <a:ext uri="{FF2B5EF4-FFF2-40B4-BE49-F238E27FC236}">
                <a16:creationId xmlns:a16="http://schemas.microsoft.com/office/drawing/2014/main" id="{790D6099-D2DF-4DD7-80C4-0F8ECC5F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3">
            <a:extLst xmlns:a="http://schemas.openxmlformats.org/drawingml/2006/main">
              <a:ext uri="{FF2B5EF4-FFF2-40B4-BE49-F238E27FC236}">
                <a16:creationId xmlns:a16="http://schemas.microsoft.com/office/drawing/2014/main" id="{ED7930FA-D79D-461C-9936-2C57211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3">
            <a:extLst xmlns:a="http://schemas.openxmlformats.org/drawingml/2006/main">
              <a:ext uri="{FF2B5EF4-FFF2-40B4-BE49-F238E27FC236}">
                <a16:creationId xmlns:a16="http://schemas.microsoft.com/office/drawing/2014/main" id="{0415CC00-FE89-4484-8ACC-738D07B4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3">
            <a:extLst xmlns:a="http://schemas.openxmlformats.org/drawingml/2006/main">
              <a:ext uri="{FF2B5EF4-FFF2-40B4-BE49-F238E27FC236}">
                <a16:creationId xmlns:a16="http://schemas.microsoft.com/office/drawing/2014/main" id="{BEBA6427-70AC-435A-8469-DF50A884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3">
            <a:extLst xmlns:a="http://schemas.openxmlformats.org/drawingml/2006/main">
              <a:ext uri="{FF2B5EF4-FFF2-40B4-BE49-F238E27FC236}">
                <a16:creationId xmlns:a16="http://schemas.microsoft.com/office/drawing/2014/main" id="{CCAB7DEA-DE8F-4B35-8CF4-9AB7963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3">
            <a:extLst xmlns:a="http://schemas.openxmlformats.org/drawingml/2006/main">
              <a:ext uri="{FF2B5EF4-FFF2-40B4-BE49-F238E27FC236}">
                <a16:creationId xmlns:a16="http://schemas.microsoft.com/office/drawing/2014/main" id="{7BFB1E29-A470-4D2A-89A6-6A8C7CDE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3">
            <a:extLst xmlns:a="http://schemas.openxmlformats.org/drawingml/2006/main">
              <a:ext uri="{FF2B5EF4-FFF2-40B4-BE49-F238E27FC236}">
                <a16:creationId xmlns:a16="http://schemas.microsoft.com/office/drawing/2014/main" id="{B336D5D2-B744-43D8-B39F-797D048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3">
            <a:extLst xmlns:a="http://schemas.openxmlformats.org/drawingml/2006/main">
              <a:ext uri="{FF2B5EF4-FFF2-40B4-BE49-F238E27FC236}">
                <a16:creationId xmlns:a16="http://schemas.microsoft.com/office/drawing/2014/main" id="{BC6FFF48-EA56-497E-B3AA-2B8F48E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站點共用造成產能誤判</a:t>
            </a:r>
          </a:p>
        </p:txBody>
      </p:sp>
      <p:sp>
        <p:nvSpPr>
          <p:cNvPr id="17" name="before-bullets-3">
            <a:extLst xmlns:a="http://schemas.openxmlformats.org/drawingml/2006/main">
              <a:ext uri="{FF2B5EF4-FFF2-40B4-BE49-F238E27FC236}">
                <a16:creationId xmlns:a16="http://schemas.microsoft.com/office/drawing/2014/main" id="{32ABD7A0-8E0C-4CA3-A0E6-C800649D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由 station_id 單獨推測機種，需求範圍不完整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只看部分治具庫存，可能高估可開站數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需求數量異動缺少明確的衝突確認</a:t>
            </a:r>
          </a:p>
        </p:txBody>
      </p:sp>
      <p:sp>
        <p:nvSpPr>
          <p:cNvPr id="18" name="before-keywords-bg-3">
            <a:extLst xmlns:a="http://schemas.openxmlformats.org/drawingml/2006/main">
              <a:ext uri="{FF2B5EF4-FFF2-40B4-BE49-F238E27FC236}">
                <a16:creationId xmlns:a16="http://schemas.microsoft.com/office/drawing/2014/main" id="{A8D837B2-0927-4E1B-8115-DC51375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3">
            <a:extLst xmlns:a="http://schemas.openxmlformats.org/drawingml/2006/main">
              <a:ext uri="{FF2B5EF4-FFF2-40B4-BE49-F238E27FC236}">
                <a16:creationId xmlns:a16="http://schemas.microsoft.com/office/drawing/2014/main" id="{BFDB5263-9CE5-484A-88AE-0C6CC8E2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範圍不清　｜　局部估算　｜　產能高估</a:t>
            </a:r>
          </a:p>
        </p:txBody>
      </p:sp>
      <p:sp>
        <p:nvSpPr>
          <p:cNvPr id="20" name="after-surface-3">
            <a:extLst xmlns:a="http://schemas.openxmlformats.org/drawingml/2006/main">
              <a:ext uri="{FF2B5EF4-FFF2-40B4-BE49-F238E27FC236}">
                <a16:creationId xmlns:a16="http://schemas.microsoft.com/office/drawing/2014/main" id="{6DBEF94B-711C-4AB7-8052-68386609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pacity-formula-bg-3">
            <a:extLst xmlns:a="http://schemas.openxmlformats.org/drawingml/2006/main">
              <a:ext uri="{FF2B5EF4-FFF2-40B4-BE49-F238E27FC236}">
                <a16:creationId xmlns:a16="http://schemas.microsoft.com/office/drawing/2014/main" id="{667ED91F-8CEB-4CFC-A832-2150FCB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8577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sp>
        <p:nvSpPr>
          <p:cNvPr id="22" name="capacity-label-3">
            <a:extLst xmlns:a="http://schemas.openxmlformats.org/drawingml/2006/main">
              <a:ext uri="{FF2B5EF4-FFF2-40B4-BE49-F238E27FC236}">
                <a16:creationId xmlns:a16="http://schemas.microsoft.com/office/drawing/2014/main" id="{7775F9C3-3C64-4659-9347-D779A35B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權威可開站數</a:t>
            </a:r>
          </a:p>
        </p:txBody>
      </p:sp>
      <p:sp>
        <p:nvSpPr>
          <p:cNvPr id="23" name="capacity-formula-3">
            <a:extLst xmlns:a="http://schemas.openxmlformats.org/drawingml/2006/main">
              <a:ext uri="{FF2B5EF4-FFF2-40B4-BE49-F238E27FC236}">
                <a16:creationId xmlns:a16="http://schemas.microsoft.com/office/drawing/2014/main" id="{FB575569-628F-4045-8F48-BA7BAAC9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MIN  ⌊目前庫存 ÷ 單站需求量⌋</a:t>
            </a:r>
          </a:p>
        </p:txBody>
      </p:sp>
      <p:sp>
        <p:nvSpPr>
          <p:cNvPr id="24" name="capacity-scope-3">
            <a:extLst xmlns:a="http://schemas.openxmlformats.org/drawingml/2006/main">
              <a:ext uri="{FF2B5EF4-FFF2-40B4-BE49-F238E27FC236}">
                <a16:creationId xmlns:a16="http://schemas.microsoft.com/office/drawing/2014/main" id="{23944DA7-550D-46FA-B62F-47081CF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48125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計算範圍：model_id + station_id 的完整治具需求集合</a:t>
            </a:r>
          </a:p>
        </p:txBody>
      </p:sp>
      <p:sp>
        <p:nvSpPr>
          <p:cNvPr id="25" name="capacity-points-3">
            <a:extLst xmlns:a="http://schemas.openxmlformats.org/drawingml/2006/main">
              <a:ext uri="{FF2B5EF4-FFF2-40B4-BE49-F238E27FC236}">
                <a16:creationId xmlns:a16="http://schemas.microsoft.com/office/drawing/2014/main" id="{1C249243-91C8-416A-9A14-0BA34918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438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✓ 同一站點可被多機種共用，但需求保持機種別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✓ 不再從 station_id 單獨反推機種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✓ 以瓶頸治具決定最大開站數</a:t>
            </a:r>
          </a:p>
        </p:txBody>
      </p:sp>
      <p:sp>
        <p:nvSpPr>
          <p:cNvPr id="26" name="cost-cell-3-0-0">
            <a:extLst xmlns:a="http://schemas.openxmlformats.org/drawingml/2006/main">
              <a:ext uri="{FF2B5EF4-FFF2-40B4-BE49-F238E27FC236}">
                <a16:creationId xmlns:a16="http://schemas.microsoft.com/office/drawing/2014/main" id="{DAB9FFC2-652E-44FE-957E-7C982DF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3-0-0">
            <a:extLst xmlns:a="http://schemas.openxmlformats.org/drawingml/2006/main">
              <a:ext uri="{FF2B5EF4-FFF2-40B4-BE49-F238E27FC236}">
                <a16:creationId xmlns:a16="http://schemas.microsoft.com/office/drawing/2014/main" id="{CEB5B5BD-09A7-4EFE-88E4-455C74F7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8" name="cost-cell-3-0-1">
            <a:extLst xmlns:a="http://schemas.openxmlformats.org/drawingml/2006/main">
              <a:ext uri="{FF2B5EF4-FFF2-40B4-BE49-F238E27FC236}">
                <a16:creationId xmlns:a16="http://schemas.microsoft.com/office/drawing/2014/main" id="{1F50E0A9-DEF6-4067-84E4-6C58549A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3-0-1">
            <a:extLst xmlns:a="http://schemas.openxmlformats.org/drawingml/2006/main">
              <a:ext uri="{FF2B5EF4-FFF2-40B4-BE49-F238E27FC236}">
                <a16:creationId xmlns:a16="http://schemas.microsoft.com/office/drawing/2014/main" id="{B812E79C-A7E6-45FF-BF55-AAAEEB4B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30" name="cost-cell-3-0-2">
            <a:extLst xmlns:a="http://schemas.openxmlformats.org/drawingml/2006/main">
              <a:ext uri="{FF2B5EF4-FFF2-40B4-BE49-F238E27FC236}">
                <a16:creationId xmlns:a16="http://schemas.microsoft.com/office/drawing/2014/main" id="{AF6B3353-9C79-4FC4-A55E-E2A709E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3-0-2">
            <a:extLst xmlns:a="http://schemas.openxmlformats.org/drawingml/2006/main">
              <a:ext uri="{FF2B5EF4-FFF2-40B4-BE49-F238E27FC236}">
                <a16:creationId xmlns:a16="http://schemas.microsoft.com/office/drawing/2014/main" id="{594151FB-A0E8-48A0-A92C-32F48E0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2" name="cost-cell-3-1-0">
            <a:extLst xmlns:a="http://schemas.openxmlformats.org/drawingml/2006/main">
              <a:ext uri="{FF2B5EF4-FFF2-40B4-BE49-F238E27FC236}">
                <a16:creationId xmlns:a16="http://schemas.microsoft.com/office/drawing/2014/main" id="{35748359-D6FE-4918-A74D-5B320560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3-1-0">
            <a:extLst xmlns:a="http://schemas.openxmlformats.org/drawingml/2006/main">
              <a:ext uri="{FF2B5EF4-FFF2-40B4-BE49-F238E27FC236}">
                <a16:creationId xmlns:a16="http://schemas.microsoft.com/office/drawing/2014/main" id="{CBA5C339-010B-4B83-8893-8D3FE59F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4" name="cost-cell-3-1-1">
            <a:extLst xmlns:a="http://schemas.openxmlformats.org/drawingml/2006/main">
              <a:ext uri="{FF2B5EF4-FFF2-40B4-BE49-F238E27FC236}">
                <a16:creationId xmlns:a16="http://schemas.microsoft.com/office/drawing/2014/main" id="{A00AE169-5A85-434F-8F34-8C7A0BCF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3-1-1">
            <a:extLst xmlns:a="http://schemas.openxmlformats.org/drawingml/2006/main">
              <a:ext uri="{FF2B5EF4-FFF2-40B4-BE49-F238E27FC236}">
                <a16:creationId xmlns:a16="http://schemas.microsoft.com/office/drawing/2014/main" id="{31873561-3C05-4E2D-8416-7ED18EFA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人工逐一比對治具庫存與需求</a:t>
            </a:r>
          </a:p>
        </p:txBody>
      </p:sp>
      <p:sp>
        <p:nvSpPr>
          <p:cNvPr id="36" name="cost-cell-3-1-2">
            <a:extLst xmlns:a="http://schemas.openxmlformats.org/drawingml/2006/main">
              <a:ext uri="{FF2B5EF4-FFF2-40B4-BE49-F238E27FC236}">
                <a16:creationId xmlns:a16="http://schemas.microsoft.com/office/drawing/2014/main" id="{0B37F575-2E11-4394-AF7A-7FA0A2AF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3-1-2">
            <a:extLst xmlns:a="http://schemas.openxmlformats.org/drawingml/2006/main">
              <a:ext uri="{FF2B5EF4-FFF2-40B4-BE49-F238E27FC236}">
                <a16:creationId xmlns:a16="http://schemas.microsoft.com/office/drawing/2014/main" id="{19852911-A2DF-4AAC-9533-77D58380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系統依 model＋station 自動計算瓶頸</a:t>
            </a:r>
          </a:p>
        </p:txBody>
      </p:sp>
      <p:sp>
        <p:nvSpPr>
          <p:cNvPr id="38" name="cost-cell-3-2-0">
            <a:extLst xmlns:a="http://schemas.openxmlformats.org/drawingml/2006/main">
              <a:ext uri="{FF2B5EF4-FFF2-40B4-BE49-F238E27FC236}">
                <a16:creationId xmlns:a16="http://schemas.microsoft.com/office/drawing/2014/main" id="{41898241-2FCA-4EBD-8B60-25E28303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3-2-0">
            <a:extLst xmlns:a="http://schemas.openxmlformats.org/drawingml/2006/main">
              <a:ext uri="{FF2B5EF4-FFF2-40B4-BE49-F238E27FC236}">
                <a16:creationId xmlns:a16="http://schemas.microsoft.com/office/drawing/2014/main" id="{8D80A8D0-4543-4F23-86FA-BDF7555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40" name="cost-cell-3-2-1">
            <a:extLst xmlns:a="http://schemas.openxmlformats.org/drawingml/2006/main">
              <a:ext uri="{FF2B5EF4-FFF2-40B4-BE49-F238E27FC236}">
                <a16:creationId xmlns:a16="http://schemas.microsoft.com/office/drawing/2014/main" id="{207D59C8-2E48-4A04-B164-15E371F5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3-2-1">
            <a:extLst xmlns:a="http://schemas.openxmlformats.org/drawingml/2006/main">
              <a:ext uri="{FF2B5EF4-FFF2-40B4-BE49-F238E27FC236}">
                <a16:creationId xmlns:a16="http://schemas.microsoft.com/office/drawing/2014/main" id="{E9560920-2C71-40E6-BD08-50AFD26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機種與站點關係混用</a:t>
            </a:r>
          </a:p>
        </p:txBody>
      </p:sp>
      <p:sp>
        <p:nvSpPr>
          <p:cNvPr id="42" name="cost-cell-3-2-2">
            <a:extLst xmlns:a="http://schemas.openxmlformats.org/drawingml/2006/main">
              <a:ext uri="{FF2B5EF4-FFF2-40B4-BE49-F238E27FC236}">
                <a16:creationId xmlns:a16="http://schemas.microsoft.com/office/drawing/2014/main" id="{A865DA58-00FE-45B1-B91A-6062B36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3-2-2">
            <a:extLst xmlns:a="http://schemas.openxmlformats.org/drawingml/2006/main">
              <a:ext uri="{FF2B5EF4-FFF2-40B4-BE49-F238E27FC236}">
                <a16:creationId xmlns:a16="http://schemas.microsoft.com/office/drawing/2014/main" id="{CC9D530C-4559-4751-A41D-D5222096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需求唯一範圍固定為 model＋station＋fixture</a:t>
            </a:r>
          </a:p>
        </p:txBody>
      </p:sp>
      <p:sp>
        <p:nvSpPr>
          <p:cNvPr id="44" name="cost-cell-3-3-0">
            <a:extLst xmlns:a="http://schemas.openxmlformats.org/drawingml/2006/main">
              <a:ext uri="{FF2B5EF4-FFF2-40B4-BE49-F238E27FC236}">
                <a16:creationId xmlns:a16="http://schemas.microsoft.com/office/drawing/2014/main" id="{0F44F1DC-1FFE-4FFB-BD2D-877C042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3-3-0">
            <a:extLst xmlns:a="http://schemas.openxmlformats.org/drawingml/2006/main">
              <a:ext uri="{FF2B5EF4-FFF2-40B4-BE49-F238E27FC236}">
                <a16:creationId xmlns:a16="http://schemas.microsoft.com/office/drawing/2014/main" id="{6243127B-BCB0-44E0-9CDB-8AE9FBAC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6" name="cost-cell-3-3-1">
            <a:extLst xmlns:a="http://schemas.openxmlformats.org/drawingml/2006/main">
              <a:ext uri="{FF2B5EF4-FFF2-40B4-BE49-F238E27FC236}">
                <a16:creationId xmlns:a16="http://schemas.microsoft.com/office/drawing/2014/main" id="{4D5DD37F-3836-4887-BED8-6A1B651E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3-3-1">
            <a:extLst xmlns:a="http://schemas.openxmlformats.org/drawingml/2006/main">
              <a:ext uri="{FF2B5EF4-FFF2-40B4-BE49-F238E27FC236}">
                <a16:creationId xmlns:a16="http://schemas.microsoft.com/office/drawing/2014/main" id="{1199A3EB-EAA8-487F-ABC5-FB53157E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匯入可能覆蓋既有設定</a:t>
            </a:r>
          </a:p>
        </p:txBody>
      </p:sp>
      <p:sp>
        <p:nvSpPr>
          <p:cNvPr id="48" name="cost-cell-3-3-2">
            <a:extLst xmlns:a="http://schemas.openxmlformats.org/drawingml/2006/main">
              <a:ext uri="{FF2B5EF4-FFF2-40B4-BE49-F238E27FC236}">
                <a16:creationId xmlns:a16="http://schemas.microsoft.com/office/drawing/2014/main" id="{6A8E3BF1-16A1-4DC8-9CC7-64CAC74D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9" name="cost-text-3-3-2">
            <a:extLst xmlns:a="http://schemas.openxmlformats.org/drawingml/2006/main">
              <a:ext uri="{FF2B5EF4-FFF2-40B4-BE49-F238E27FC236}">
                <a16:creationId xmlns:a16="http://schemas.microsoft.com/office/drawing/2014/main" id="{50551567-C796-401C-A0D3-2F64CBF5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預覽衝突，需明確確認才覆寫</a:t>
            </a:r>
          </a:p>
        </p:txBody>
      </p:sp>
      <p:sp>
        <p:nvSpPr>
          <p:cNvPr id="50" name="footer-3">
            <a:extLst xmlns:a="http://schemas.openxmlformats.org/drawingml/2006/main">
              <a:ext uri="{FF2B5EF4-FFF2-40B4-BE49-F238E27FC236}">
                <a16:creationId xmlns:a16="http://schemas.microsoft.com/office/drawing/2014/main" id="{AB68622E-6AA5-4CFA-957C-BC0EEDEF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band-3">
            <a:extLst xmlns:a="http://schemas.openxmlformats.org/drawingml/2006/main">
              <a:ext uri="{FF2B5EF4-FFF2-40B4-BE49-F238E27FC236}">
                <a16:creationId xmlns:a16="http://schemas.microsoft.com/office/drawing/2014/main" id="{B162D6FA-9A93-45FB-9746-9E14CCC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-logo-3">
            <a:extLst xmlns:a="http://schemas.openxmlformats.org/drawingml/2006/main">
              <a:ext uri="{FF2B5EF4-FFF2-40B4-BE49-F238E27FC236}">
                <a16:creationId xmlns:a16="http://schemas.microsoft.com/office/drawing/2014/main" id="{6ECFD6C1-F996-433A-AF75-19577AF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ooter-logo-text-3">
            <a:extLst xmlns:a="http://schemas.openxmlformats.org/drawingml/2006/main">
              <a:ext uri="{FF2B5EF4-FFF2-40B4-BE49-F238E27FC236}">
                <a16:creationId xmlns:a16="http://schemas.microsoft.com/office/drawing/2014/main" id="{F0C7A95C-557C-4883-B493-DCDB45E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F8B2A379-4907-45E7-9665-DF83188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5" name="footer-sub-3">
            <a:extLst xmlns:a="http://schemas.openxmlformats.org/drawingml/2006/main">
              <a:ext uri="{FF2B5EF4-FFF2-40B4-BE49-F238E27FC236}">
                <a16:creationId xmlns:a16="http://schemas.microsoft.com/office/drawing/2014/main" id="{FB46A0FC-1C94-4870-A0DD-C7BBC0A3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0C1BA6C-695C-4532-B75B-3D4FB11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900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4">
            <a:extLst xmlns:a="http://schemas.openxmlformats.org/drawingml/2006/main">
              <a:ext uri="{FF2B5EF4-FFF2-40B4-BE49-F238E27FC236}">
                <a16:creationId xmlns:a16="http://schemas.microsoft.com/office/drawing/2014/main" id="{41B11C0D-72DA-407F-8893-921703D1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4">
            <a:extLst xmlns:a="http://schemas.openxmlformats.org/drawingml/2006/main">
              <a:ext uri="{FF2B5EF4-FFF2-40B4-BE49-F238E27FC236}">
                <a16:creationId xmlns:a16="http://schemas.microsoft.com/office/drawing/2014/main" id="{F6AB4A5D-EABF-440D-A33A-BA29BAAC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4">
            <a:extLst xmlns:a="http://schemas.openxmlformats.org/drawingml/2006/main">
              <a:ext uri="{FF2B5EF4-FFF2-40B4-BE49-F238E27FC236}">
                <a16:creationId xmlns:a16="http://schemas.microsoft.com/office/drawing/2014/main" id="{6B10D312-A85E-43CB-9729-BE74745F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3893F076-07C6-4FEA-9466-0DD997A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查詢與報表改為後端一致彙整</a:t>
            </a:r>
          </a:p>
        </p:txBody>
      </p:sp>
      <p:sp>
        <p:nvSpPr>
          <p:cNvPr id="5" name="module-4">
            <a:extLst xmlns:a="http://schemas.openxmlformats.org/drawingml/2006/main">
              <a:ext uri="{FF2B5EF4-FFF2-40B4-BE49-F238E27FC236}">
                <a16:creationId xmlns:a16="http://schemas.microsoft.com/office/drawing/2014/main" id="{E647466F-D9AB-4308-B8EC-A88A5E22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搜尋／報表</a:t>
            </a:r>
          </a:p>
        </p:txBody>
      </p:sp>
      <p:sp>
        <p:nvSpPr>
          <p:cNvPr id="6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50B06417-582A-409C-B98D-0BDB0292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4">
            <a:extLst xmlns:a="http://schemas.openxmlformats.org/drawingml/2006/main">
              <a:ext uri="{FF2B5EF4-FFF2-40B4-BE49-F238E27FC236}">
                <a16:creationId xmlns:a16="http://schemas.microsoft.com/office/drawing/2014/main" id="{3C0BF403-0A20-4AA6-93FE-9CC187E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4">
            <a:extLst xmlns:a="http://schemas.openxmlformats.org/drawingml/2006/main">
              <a:ext uri="{FF2B5EF4-FFF2-40B4-BE49-F238E27FC236}">
                <a16:creationId xmlns:a16="http://schemas.microsoft.com/office/drawing/2014/main" id="{D550E27F-AAC3-43A0-BC53-1905620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治具、機種、站點、庫存與交易資料若由前端逐頁拼接，容易出現分頁不一致、漏列與匯出結果不同步。</a:t>
            </a:r>
          </a:p>
        </p:txBody>
      </p:sp>
      <p:sp>
        <p:nvSpPr>
          <p:cNvPr id="9" name="reason-line-4">
            <a:extLst xmlns:a="http://schemas.openxmlformats.org/drawingml/2006/main">
              <a:ext uri="{FF2B5EF4-FFF2-40B4-BE49-F238E27FC236}">
                <a16:creationId xmlns:a16="http://schemas.microsoft.com/office/drawing/2014/main" id="{DD7C137E-78E8-4C50-8D5F-1B61FA5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4">
            <a:extLst xmlns:a="http://schemas.openxmlformats.org/drawingml/2006/main">
              <a:ext uri="{FF2B5EF4-FFF2-40B4-BE49-F238E27FC236}">
                <a16:creationId xmlns:a16="http://schemas.microsoft.com/office/drawing/2014/main" id="{04F91E51-49CF-48E4-A0E1-BA9352F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4">
            <a:extLst xmlns:a="http://schemas.openxmlformats.org/drawingml/2006/main">
              <a:ext uri="{FF2B5EF4-FFF2-40B4-BE49-F238E27FC236}">
                <a16:creationId xmlns:a16="http://schemas.microsoft.com/office/drawing/2014/main" id="{D14B6DE2-AD4B-4312-A319-916EA1E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4">
            <a:extLst xmlns:a="http://schemas.openxmlformats.org/drawingml/2006/main">
              <a:ext uri="{FF2B5EF4-FFF2-40B4-BE49-F238E27FC236}">
                <a16:creationId xmlns:a16="http://schemas.microsoft.com/office/drawing/2014/main" id="{D301CA23-FEB3-41D9-BA81-9BC339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4">
            <a:extLst xmlns:a="http://schemas.openxmlformats.org/drawingml/2006/main">
              <a:ext uri="{FF2B5EF4-FFF2-40B4-BE49-F238E27FC236}">
                <a16:creationId xmlns:a16="http://schemas.microsoft.com/office/drawing/2014/main" id="{F8998F6C-9F1A-4E46-B4ED-E798D3C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4">
            <a:extLst xmlns:a="http://schemas.openxmlformats.org/drawingml/2006/main">
              <a:ext uri="{FF2B5EF4-FFF2-40B4-BE49-F238E27FC236}">
                <a16:creationId xmlns:a16="http://schemas.microsoft.com/office/drawing/2014/main" id="{C7FF7C20-4600-46EA-B09D-6ED8F9C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4">
            <a:extLst xmlns:a="http://schemas.openxmlformats.org/drawingml/2006/main">
              <a:ext uri="{FF2B5EF4-FFF2-40B4-BE49-F238E27FC236}">
                <a16:creationId xmlns:a16="http://schemas.microsoft.com/office/drawing/2014/main" id="{E4A739E8-19C5-4908-94D8-AC212167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4">
            <a:extLst xmlns:a="http://schemas.openxmlformats.org/drawingml/2006/main">
              <a:ext uri="{FF2B5EF4-FFF2-40B4-BE49-F238E27FC236}">
                <a16:creationId xmlns:a16="http://schemas.microsoft.com/office/drawing/2014/main" id="{CF24972F-BD34-44FF-9386-1105800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前端拼資料，結果難一致</a:t>
            </a:r>
          </a:p>
        </p:txBody>
      </p:sp>
      <p:sp>
        <p:nvSpPr>
          <p:cNvPr id="17" name="before-bullets-4">
            <a:extLst xmlns:a="http://schemas.openxmlformats.org/drawingml/2006/main">
              <a:ext uri="{FF2B5EF4-FFF2-40B4-BE49-F238E27FC236}">
                <a16:creationId xmlns:a16="http://schemas.microsoft.com/office/drawing/2014/main" id="{EAF8B67A-61EE-43DF-86E8-A65BA3F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跨多個清單查找治具與關聯資訊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篩選、排序與彙總分散在頁面邏輯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畫面結果與完整匯出可能採不同資料範圍</a:t>
            </a:r>
          </a:p>
        </p:txBody>
      </p:sp>
      <p:sp>
        <p:nvSpPr>
          <p:cNvPr id="18" name="before-keywords-bg-4">
            <a:extLst xmlns:a="http://schemas.openxmlformats.org/drawingml/2006/main">
              <a:ext uri="{FF2B5EF4-FFF2-40B4-BE49-F238E27FC236}">
                <a16:creationId xmlns:a16="http://schemas.microsoft.com/office/drawing/2014/main" id="{6305F06D-18A9-4CE8-B0DB-5FF011A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4">
            <a:extLst xmlns:a="http://schemas.openxmlformats.org/drawingml/2006/main">
              <a:ext uri="{FF2B5EF4-FFF2-40B4-BE49-F238E27FC236}">
                <a16:creationId xmlns:a16="http://schemas.microsoft.com/office/drawing/2014/main" id="{0C6FC478-2CF8-4CCF-BC71-605BB26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跨表查找　｜　分頁漂移　｜　匯出口徑不一</a:t>
            </a:r>
          </a:p>
        </p:txBody>
      </p:sp>
      <p:sp>
        <p:nvSpPr>
          <p:cNvPr id="20" name="after-surface-4">
            <a:extLst xmlns:a="http://schemas.openxmlformats.org/drawingml/2006/main">
              <a:ext uri="{FF2B5EF4-FFF2-40B4-BE49-F238E27FC236}">
                <a16:creationId xmlns:a16="http://schemas.microsoft.com/office/drawing/2014/main" id="{352A8AE6-79C0-4750-B194-CADC9278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4">
            <a:extLst xmlns:a="http://schemas.openxmlformats.org/drawingml/2006/main">
              <a:ext uri="{FF2B5EF4-FFF2-40B4-BE49-F238E27FC236}">
                <a16:creationId xmlns:a16="http://schemas.microsoft.com/office/drawing/2014/main" id="{282BBEE4-9AE2-41C8-8E45-66E1163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ab01107b94e5e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4">
            <a:extLst xmlns:a="http://schemas.openxmlformats.org/drawingml/2006/main">
              <a:ext uri="{FF2B5EF4-FFF2-40B4-BE49-F238E27FC236}">
                <a16:creationId xmlns:a16="http://schemas.microsoft.com/office/drawing/2014/main" id="{5ADAFFAF-1006-4101-9094-397A88F4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後端讀模型統一篩選、排序、分頁、彙總與完整匯出</a:t>
            </a:r>
          </a:p>
        </p:txBody>
      </p:sp>
      <p:sp>
        <p:nvSpPr>
          <p:cNvPr id="24" name="cost-cell-4-0-0">
            <a:extLst xmlns:a="http://schemas.openxmlformats.org/drawingml/2006/main">
              <a:ext uri="{FF2B5EF4-FFF2-40B4-BE49-F238E27FC236}">
                <a16:creationId xmlns:a16="http://schemas.microsoft.com/office/drawing/2014/main" id="{E27E0E7F-E105-4E13-861C-182EB8C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4-0-0">
            <a:extLst xmlns:a="http://schemas.openxmlformats.org/drawingml/2006/main">
              <a:ext uri="{FF2B5EF4-FFF2-40B4-BE49-F238E27FC236}">
                <a16:creationId xmlns:a16="http://schemas.microsoft.com/office/drawing/2014/main" id="{787CC60C-C0D2-496A-9155-45D434B4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4-0-1">
            <a:extLst xmlns:a="http://schemas.openxmlformats.org/drawingml/2006/main">
              <a:ext uri="{FF2B5EF4-FFF2-40B4-BE49-F238E27FC236}">
                <a16:creationId xmlns:a16="http://schemas.microsoft.com/office/drawing/2014/main" id="{DFB6586C-F0A6-4075-A333-08CC3D9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4-0-1">
            <a:extLst xmlns:a="http://schemas.openxmlformats.org/drawingml/2006/main">
              <a:ext uri="{FF2B5EF4-FFF2-40B4-BE49-F238E27FC236}">
                <a16:creationId xmlns:a16="http://schemas.microsoft.com/office/drawing/2014/main" id="{F8AA9CEC-8A8E-4B2A-97E1-7E3900C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4-0-2">
            <a:extLst xmlns:a="http://schemas.openxmlformats.org/drawingml/2006/main">
              <a:ext uri="{FF2B5EF4-FFF2-40B4-BE49-F238E27FC236}">
                <a16:creationId xmlns:a16="http://schemas.microsoft.com/office/drawing/2014/main" id="{35AFFB19-F6F5-47B8-98BA-00144941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4-0-2">
            <a:extLst xmlns:a="http://schemas.openxmlformats.org/drawingml/2006/main">
              <a:ext uri="{FF2B5EF4-FFF2-40B4-BE49-F238E27FC236}">
                <a16:creationId xmlns:a16="http://schemas.microsoft.com/office/drawing/2014/main" id="{157381D8-FE2B-4309-B050-83CBA8D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4-1-0">
            <a:extLst xmlns:a="http://schemas.openxmlformats.org/drawingml/2006/main">
              <a:ext uri="{FF2B5EF4-FFF2-40B4-BE49-F238E27FC236}">
                <a16:creationId xmlns:a16="http://schemas.microsoft.com/office/drawing/2014/main" id="{8531ED51-6D89-43D2-BCB5-242ABAF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4-1-0">
            <a:extLst xmlns:a="http://schemas.openxmlformats.org/drawingml/2006/main">
              <a:ext uri="{FF2B5EF4-FFF2-40B4-BE49-F238E27FC236}">
                <a16:creationId xmlns:a16="http://schemas.microsoft.com/office/drawing/2014/main" id="{43105690-3802-4C8C-A316-3EE10B3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4-1-1">
            <a:extLst xmlns:a="http://schemas.openxmlformats.org/drawingml/2006/main">
              <a:ext uri="{FF2B5EF4-FFF2-40B4-BE49-F238E27FC236}">
                <a16:creationId xmlns:a16="http://schemas.microsoft.com/office/drawing/2014/main" id="{08FD4896-0652-47EF-BD92-87F29D8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4-1-1">
            <a:extLst xmlns:a="http://schemas.openxmlformats.org/drawingml/2006/main">
              <a:ext uri="{FF2B5EF4-FFF2-40B4-BE49-F238E27FC236}">
                <a16:creationId xmlns:a16="http://schemas.microsoft.com/office/drawing/2014/main" id="{C176837A-0E5E-446C-ACA2-566D1E97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人工交叉查詢多張清單</a:t>
            </a:r>
          </a:p>
        </p:txBody>
      </p:sp>
      <p:sp>
        <p:nvSpPr>
          <p:cNvPr id="34" name="cost-cell-4-1-2">
            <a:extLst xmlns:a="http://schemas.openxmlformats.org/drawingml/2006/main">
              <a:ext uri="{FF2B5EF4-FFF2-40B4-BE49-F238E27FC236}">
                <a16:creationId xmlns:a16="http://schemas.microsoft.com/office/drawing/2014/main" id="{B2CC2C06-C5BA-428A-BE3B-9434640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4-1-2">
            <a:extLst xmlns:a="http://schemas.openxmlformats.org/drawingml/2006/main">
              <a:ext uri="{FF2B5EF4-FFF2-40B4-BE49-F238E27FC236}">
                <a16:creationId xmlns:a16="http://schemas.microsoft.com/office/drawing/2014/main" id="{1BB9F011-E004-4AE5-AA65-BA47A51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搜尋優先流程與聯動篩選</a:t>
            </a:r>
          </a:p>
        </p:txBody>
      </p:sp>
      <p:sp>
        <p:nvSpPr>
          <p:cNvPr id="36" name="cost-cell-4-2-0">
            <a:extLst xmlns:a="http://schemas.openxmlformats.org/drawingml/2006/main">
              <a:ext uri="{FF2B5EF4-FFF2-40B4-BE49-F238E27FC236}">
                <a16:creationId xmlns:a16="http://schemas.microsoft.com/office/drawing/2014/main" id="{827CEABB-8881-40BB-BFDE-7E2A573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4-2-0">
            <a:extLst xmlns:a="http://schemas.openxmlformats.org/drawingml/2006/main">
              <a:ext uri="{FF2B5EF4-FFF2-40B4-BE49-F238E27FC236}">
                <a16:creationId xmlns:a16="http://schemas.microsoft.com/office/drawing/2014/main" id="{2D6309DC-83C6-48E6-A829-4A4489A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4-2-1">
            <a:extLst xmlns:a="http://schemas.openxmlformats.org/drawingml/2006/main">
              <a:ext uri="{FF2B5EF4-FFF2-40B4-BE49-F238E27FC236}">
                <a16:creationId xmlns:a16="http://schemas.microsoft.com/office/drawing/2014/main" id="{F64C9A0D-865C-4D2F-AAC1-7978C30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4-2-1">
            <a:extLst xmlns:a="http://schemas.openxmlformats.org/drawingml/2006/main">
              <a:ext uri="{FF2B5EF4-FFF2-40B4-BE49-F238E27FC236}">
                <a16:creationId xmlns:a16="http://schemas.microsoft.com/office/drawing/2014/main" id="{E9C99E49-A81F-44CA-B056-0369E7F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頁面端拼接造成漏列或重複</a:t>
            </a:r>
          </a:p>
        </p:txBody>
      </p:sp>
      <p:sp>
        <p:nvSpPr>
          <p:cNvPr id="40" name="cost-cell-4-2-2">
            <a:extLst xmlns:a="http://schemas.openxmlformats.org/drawingml/2006/main">
              <a:ext uri="{FF2B5EF4-FFF2-40B4-BE49-F238E27FC236}">
                <a16:creationId xmlns:a16="http://schemas.microsoft.com/office/drawing/2014/main" id="{66941949-B0E3-49DD-8253-BD7E16D5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4-2-2">
            <a:extLst xmlns:a="http://schemas.openxmlformats.org/drawingml/2006/main">
              <a:ext uri="{FF2B5EF4-FFF2-40B4-BE49-F238E27FC236}">
                <a16:creationId xmlns:a16="http://schemas.microsoft.com/office/drawing/2014/main" id="{0D17420C-C45F-4DDA-AE6B-B5BB0340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專用 repository＋service 產生一致讀模型</a:t>
            </a:r>
          </a:p>
        </p:txBody>
      </p:sp>
      <p:sp>
        <p:nvSpPr>
          <p:cNvPr id="42" name="cost-cell-4-3-0">
            <a:extLst xmlns:a="http://schemas.openxmlformats.org/drawingml/2006/main">
              <a:ext uri="{FF2B5EF4-FFF2-40B4-BE49-F238E27FC236}">
                <a16:creationId xmlns:a16="http://schemas.microsoft.com/office/drawing/2014/main" id="{63DE6225-F984-4CAC-A32C-33B8683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4-3-0">
            <a:extLst xmlns:a="http://schemas.openxmlformats.org/drawingml/2006/main">
              <a:ext uri="{FF2B5EF4-FFF2-40B4-BE49-F238E27FC236}">
                <a16:creationId xmlns:a16="http://schemas.microsoft.com/office/drawing/2014/main" id="{CD5674B7-92FA-4F76-BDB1-0BFB9E4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4-3-1">
            <a:extLst xmlns:a="http://schemas.openxmlformats.org/drawingml/2006/main">
              <a:ext uri="{FF2B5EF4-FFF2-40B4-BE49-F238E27FC236}">
                <a16:creationId xmlns:a16="http://schemas.microsoft.com/office/drawing/2014/main" id="{657F13AC-AA48-483B-9F9E-AD3FF67A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4-3-1">
            <a:extLst xmlns:a="http://schemas.openxmlformats.org/drawingml/2006/main">
              <a:ext uri="{FF2B5EF4-FFF2-40B4-BE49-F238E27FC236}">
                <a16:creationId xmlns:a16="http://schemas.microsoft.com/office/drawing/2014/main" id="{057DAD6D-9B51-41A1-B04F-BCC0E301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畫面與匯出需重複操作</a:t>
            </a:r>
          </a:p>
        </p:txBody>
      </p:sp>
      <p:sp>
        <p:nvSpPr>
          <p:cNvPr id="46" name="cost-cell-4-3-2">
            <a:extLst xmlns:a="http://schemas.openxmlformats.org/drawingml/2006/main">
              <a:ext uri="{FF2B5EF4-FFF2-40B4-BE49-F238E27FC236}">
                <a16:creationId xmlns:a16="http://schemas.microsoft.com/office/drawing/2014/main" id="{2F3F7B10-B1A7-4ADE-8F20-C7744C4B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4-3-2">
            <a:extLst xmlns:a="http://schemas.openxmlformats.org/drawingml/2006/main">
              <a:ext uri="{FF2B5EF4-FFF2-40B4-BE49-F238E27FC236}">
                <a16:creationId xmlns:a16="http://schemas.microsoft.com/office/drawing/2014/main" id="{43449048-81EB-45C7-9CC9-E1C057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同一篩選條件支援 CSV／XLSX 完整匯出</a:t>
            </a:r>
          </a:p>
        </p:txBody>
      </p:sp>
      <p:sp>
        <p:nvSpPr>
          <p:cNvPr id="48" name="footer-4">
            <a:extLst xmlns:a="http://schemas.openxmlformats.org/drawingml/2006/main">
              <a:ext uri="{FF2B5EF4-FFF2-40B4-BE49-F238E27FC236}">
                <a16:creationId xmlns:a16="http://schemas.microsoft.com/office/drawing/2014/main" id="{D96A8F6C-F963-48CE-9541-1CC58786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4">
            <a:extLst xmlns:a="http://schemas.openxmlformats.org/drawingml/2006/main">
              <a:ext uri="{FF2B5EF4-FFF2-40B4-BE49-F238E27FC236}">
                <a16:creationId xmlns:a16="http://schemas.microsoft.com/office/drawing/2014/main" id="{255DA2DA-7E39-4CE6-8002-0C19B08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4">
            <a:extLst xmlns:a="http://schemas.openxmlformats.org/drawingml/2006/main">
              <a:ext uri="{FF2B5EF4-FFF2-40B4-BE49-F238E27FC236}">
                <a16:creationId xmlns:a16="http://schemas.microsoft.com/office/drawing/2014/main" id="{18FA387A-92A9-4FCE-8A05-8BC5D456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4">
            <a:extLst xmlns:a="http://schemas.openxmlformats.org/drawingml/2006/main">
              <a:ext uri="{FF2B5EF4-FFF2-40B4-BE49-F238E27FC236}">
                <a16:creationId xmlns:a16="http://schemas.microsoft.com/office/drawing/2014/main" id="{342E75E1-94A3-413F-AC28-B5F0D8B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DAB6B57-C674-4612-A4C2-294998DA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4">
            <a:extLst xmlns:a="http://schemas.openxmlformats.org/drawingml/2006/main">
              <a:ext uri="{FF2B5EF4-FFF2-40B4-BE49-F238E27FC236}">
                <a16:creationId xmlns:a16="http://schemas.microsoft.com/office/drawing/2014/main" id="{1CF30902-C603-4B26-BD5F-416C39E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502F394-BD2C-4E45-80F6-E035A1E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3772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5">
            <a:extLst xmlns:a="http://schemas.openxmlformats.org/drawingml/2006/main">
              <a:ext uri="{FF2B5EF4-FFF2-40B4-BE49-F238E27FC236}">
                <a16:creationId xmlns:a16="http://schemas.microsoft.com/office/drawing/2014/main" id="{13A150B9-1438-4F5C-9D24-5B7DD1A0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5">
            <a:extLst xmlns:a="http://schemas.openxmlformats.org/drawingml/2006/main">
              <a:ext uri="{FF2B5EF4-FFF2-40B4-BE49-F238E27FC236}">
                <a16:creationId xmlns:a16="http://schemas.microsoft.com/office/drawing/2014/main" id="{80B57B1E-FCF1-4DFA-95D7-73D7089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5">
            <a:extLst xmlns:a="http://schemas.openxmlformats.org/drawingml/2006/main">
              <a:ext uri="{FF2B5EF4-FFF2-40B4-BE49-F238E27FC236}">
                <a16:creationId xmlns:a16="http://schemas.microsoft.com/office/drawing/2014/main" id="{A5BC6557-C51C-4709-8D8F-95D53E24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AB710706-99FB-4ECF-8BC9-15FF5B8D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權限、儲位與圖片改為可追溯規則</a:t>
            </a:r>
          </a:p>
        </p:txBody>
      </p:sp>
      <p:sp>
        <p:nvSpPr>
          <p:cNvPr id="5" name="module-5">
            <a:extLst xmlns:a="http://schemas.openxmlformats.org/drawingml/2006/main">
              <a:ext uri="{FF2B5EF4-FFF2-40B4-BE49-F238E27FC236}">
                <a16:creationId xmlns:a16="http://schemas.microsoft.com/office/drawing/2014/main" id="{8CE22E75-8815-410A-9D64-DA735FD7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資料治理</a:t>
            </a:r>
          </a:p>
        </p:txBody>
      </p:sp>
      <p:sp>
        <p:nvSpPr>
          <p:cNvPr id="6" name="header-line-5">
            <a:extLst xmlns:a="http://schemas.openxmlformats.org/drawingml/2006/main">
              <a:ext uri="{FF2B5EF4-FFF2-40B4-BE49-F238E27FC236}">
                <a16:creationId xmlns:a16="http://schemas.microsoft.com/office/drawing/2014/main" id="{9088BB41-DA4E-407A-BD35-6D0BA72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5">
            <a:extLst xmlns:a="http://schemas.openxmlformats.org/drawingml/2006/main">
              <a:ext uri="{FF2B5EF4-FFF2-40B4-BE49-F238E27FC236}">
                <a16:creationId xmlns:a16="http://schemas.microsoft.com/office/drawing/2014/main" id="{6E8898CA-179B-4170-9C4F-92A382DC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5">
            <a:extLst xmlns:a="http://schemas.openxmlformats.org/drawingml/2006/main">
              <a:ext uri="{FF2B5EF4-FFF2-40B4-BE49-F238E27FC236}">
                <a16:creationId xmlns:a16="http://schemas.microsoft.com/office/drawing/2014/main" id="{6B3606B2-0290-4E56-8E71-C8F182AD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治具資料涉及不同客戶、儲位與現場圖片；若只依畫面隱藏或人工命名，可能造成越權、找錯位置或圖片對應錯誤。</a:t>
            </a:r>
          </a:p>
        </p:txBody>
      </p:sp>
      <p:sp>
        <p:nvSpPr>
          <p:cNvPr id="9" name="reason-line-5">
            <a:extLst xmlns:a="http://schemas.openxmlformats.org/drawingml/2006/main">
              <a:ext uri="{FF2B5EF4-FFF2-40B4-BE49-F238E27FC236}">
                <a16:creationId xmlns:a16="http://schemas.microsoft.com/office/drawing/2014/main" id="{00489A9D-4C43-47EC-AB58-C614EB3A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5">
            <a:extLst xmlns:a="http://schemas.openxmlformats.org/drawingml/2006/main">
              <a:ext uri="{FF2B5EF4-FFF2-40B4-BE49-F238E27FC236}">
                <a16:creationId xmlns:a16="http://schemas.microsoft.com/office/drawing/2014/main" id="{545A916A-8F5B-4CC5-8EF7-246F19F8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5">
            <a:extLst xmlns:a="http://schemas.openxmlformats.org/drawingml/2006/main">
              <a:ext uri="{FF2B5EF4-FFF2-40B4-BE49-F238E27FC236}">
                <a16:creationId xmlns:a16="http://schemas.microsoft.com/office/drawing/2014/main" id="{AD0AA9AC-05F7-4ADD-9569-EAA6AAEE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5">
            <a:extLst xmlns:a="http://schemas.openxmlformats.org/drawingml/2006/main">
              <a:ext uri="{FF2B5EF4-FFF2-40B4-BE49-F238E27FC236}">
                <a16:creationId xmlns:a16="http://schemas.microsoft.com/office/drawing/2014/main" id="{7EFF0F88-D1A5-4293-8CCE-0B0C03C4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5">
            <a:extLst xmlns:a="http://schemas.openxmlformats.org/drawingml/2006/main">
              <a:ext uri="{FF2B5EF4-FFF2-40B4-BE49-F238E27FC236}">
                <a16:creationId xmlns:a16="http://schemas.microsoft.com/office/drawing/2014/main" id="{18AD83DD-ED8A-4209-8D96-0BE211D2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5">
            <a:extLst xmlns:a="http://schemas.openxmlformats.org/drawingml/2006/main">
              <a:ext uri="{FF2B5EF4-FFF2-40B4-BE49-F238E27FC236}">
                <a16:creationId xmlns:a16="http://schemas.microsoft.com/office/drawing/2014/main" id="{945BD49F-9FE6-40A8-A4AA-6A17BCC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5">
            <a:extLst xmlns:a="http://schemas.openxmlformats.org/drawingml/2006/main">
              <a:ext uri="{FF2B5EF4-FFF2-40B4-BE49-F238E27FC236}">
                <a16:creationId xmlns:a16="http://schemas.microsoft.com/office/drawing/2014/main" id="{21C81F43-1F62-40C9-8187-9F76D43B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5">
            <a:extLst xmlns:a="http://schemas.openxmlformats.org/drawingml/2006/main">
              <a:ext uri="{FF2B5EF4-FFF2-40B4-BE49-F238E27FC236}">
                <a16:creationId xmlns:a16="http://schemas.microsoft.com/office/drawing/2014/main" id="{3F7EE3AB-A15C-4F4B-8867-CE224970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規則靠約定，風險留在現場</a:t>
            </a:r>
          </a:p>
        </p:txBody>
      </p:sp>
      <p:sp>
        <p:nvSpPr>
          <p:cNvPr id="17" name="before-bullets-5">
            <a:extLst xmlns:a="http://schemas.openxmlformats.org/drawingml/2006/main">
              <a:ext uri="{FF2B5EF4-FFF2-40B4-BE49-F238E27FC236}">
                <a16:creationId xmlns:a16="http://schemas.microsoft.com/office/drawing/2014/main" id="{A51EBDCD-C455-4973-9004-9F94E83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管理權限可能被誤解為可跨客戶操作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單一儲位欄位無法同時表達線邊與部門位置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圖片命名、替換與刪除缺少一致的客戶範圍</a:t>
            </a:r>
          </a:p>
        </p:txBody>
      </p:sp>
      <p:sp>
        <p:nvSpPr>
          <p:cNvPr id="18" name="before-keywords-bg-5">
            <a:extLst xmlns:a="http://schemas.openxmlformats.org/drawingml/2006/main">
              <a:ext uri="{FF2B5EF4-FFF2-40B4-BE49-F238E27FC236}">
                <a16:creationId xmlns:a16="http://schemas.microsoft.com/office/drawing/2014/main" id="{C232B095-43CC-4A8E-84D5-A961027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5">
            <a:extLst xmlns:a="http://schemas.openxmlformats.org/drawingml/2006/main">
              <a:ext uri="{FF2B5EF4-FFF2-40B4-BE49-F238E27FC236}">
                <a16:creationId xmlns:a16="http://schemas.microsoft.com/office/drawing/2014/main" id="{B1656ACE-6476-4312-B285-D16A669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越權風險　｜　儲位模糊　｜　圖片難維護</a:t>
            </a:r>
          </a:p>
        </p:txBody>
      </p:sp>
      <p:sp>
        <p:nvSpPr>
          <p:cNvPr id="20" name="after-surface-5">
            <a:extLst xmlns:a="http://schemas.openxmlformats.org/drawingml/2006/main">
              <a:ext uri="{FF2B5EF4-FFF2-40B4-BE49-F238E27FC236}">
                <a16:creationId xmlns:a16="http://schemas.microsoft.com/office/drawing/2014/main" id="{AD62C519-257F-4527-AC97-DA0799F7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5">
            <a:extLst xmlns:a="http://schemas.openxmlformats.org/drawingml/2006/main">
              <a:ext uri="{FF2B5EF4-FFF2-40B4-BE49-F238E27FC236}">
                <a16:creationId xmlns:a16="http://schemas.microsoft.com/office/drawing/2014/main" id="{1579EA3E-0E50-4992-8A21-A1B8A605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f5cde6f834679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5">
            <a:extLst xmlns:a="http://schemas.openxmlformats.org/drawingml/2006/main">
              <a:ext uri="{FF2B5EF4-FFF2-40B4-BE49-F238E27FC236}">
                <a16:creationId xmlns:a16="http://schemas.microsoft.com/office/drawing/2014/main" id="{057EEE09-7E0B-4A5B-97E7-3102D771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後端客戶範圍＋雙儲位欄位＋客戶目錄圖片維護</a:t>
            </a:r>
          </a:p>
        </p:txBody>
      </p:sp>
      <p:sp>
        <p:nvSpPr>
          <p:cNvPr id="24" name="cost-cell-5-0-0">
            <a:extLst xmlns:a="http://schemas.openxmlformats.org/drawingml/2006/main">
              <a:ext uri="{FF2B5EF4-FFF2-40B4-BE49-F238E27FC236}">
                <a16:creationId xmlns:a16="http://schemas.microsoft.com/office/drawing/2014/main" id="{3158C184-0E56-4437-8DA3-5CBEE2D6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5-0-0">
            <a:extLst xmlns:a="http://schemas.openxmlformats.org/drawingml/2006/main">
              <a:ext uri="{FF2B5EF4-FFF2-40B4-BE49-F238E27FC236}">
                <a16:creationId xmlns:a16="http://schemas.microsoft.com/office/drawing/2014/main" id="{8A97F942-AABF-4DAF-BF03-BA30150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5-0-1">
            <a:extLst xmlns:a="http://schemas.openxmlformats.org/drawingml/2006/main">
              <a:ext uri="{FF2B5EF4-FFF2-40B4-BE49-F238E27FC236}">
                <a16:creationId xmlns:a16="http://schemas.microsoft.com/office/drawing/2014/main" id="{261AB833-7DD5-4579-8C70-88CEC277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5-0-1">
            <a:extLst xmlns:a="http://schemas.openxmlformats.org/drawingml/2006/main">
              <a:ext uri="{FF2B5EF4-FFF2-40B4-BE49-F238E27FC236}">
                <a16:creationId xmlns:a16="http://schemas.microsoft.com/office/drawing/2014/main" id="{3D1395CE-2A25-40DE-9F94-8111AF6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5-0-2">
            <a:extLst xmlns:a="http://schemas.openxmlformats.org/drawingml/2006/main">
              <a:ext uri="{FF2B5EF4-FFF2-40B4-BE49-F238E27FC236}">
                <a16:creationId xmlns:a16="http://schemas.microsoft.com/office/drawing/2014/main" id="{308A6C99-FF84-4B52-BB30-66D8F7B7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5-0-2">
            <a:extLst xmlns:a="http://schemas.openxmlformats.org/drawingml/2006/main">
              <a:ext uri="{FF2B5EF4-FFF2-40B4-BE49-F238E27FC236}">
                <a16:creationId xmlns:a16="http://schemas.microsoft.com/office/drawing/2014/main" id="{3752A94D-CE84-4604-B5D4-AEC8A0B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5-1-0">
            <a:extLst xmlns:a="http://schemas.openxmlformats.org/drawingml/2006/main">
              <a:ext uri="{FF2B5EF4-FFF2-40B4-BE49-F238E27FC236}">
                <a16:creationId xmlns:a16="http://schemas.microsoft.com/office/drawing/2014/main" id="{47C5CE28-A4BE-4F2B-9417-E5D58B44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5-1-0">
            <a:extLst xmlns:a="http://schemas.openxmlformats.org/drawingml/2006/main">
              <a:ext uri="{FF2B5EF4-FFF2-40B4-BE49-F238E27FC236}">
                <a16:creationId xmlns:a16="http://schemas.microsoft.com/office/drawing/2014/main" id="{B64E8610-5375-4C9E-92D2-B505CF1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5-1-1">
            <a:extLst xmlns:a="http://schemas.openxmlformats.org/drawingml/2006/main">
              <a:ext uri="{FF2B5EF4-FFF2-40B4-BE49-F238E27FC236}">
                <a16:creationId xmlns:a16="http://schemas.microsoft.com/office/drawing/2014/main" id="{FA35EAD6-F347-48C5-90E0-8808BB1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5-1-1">
            <a:extLst xmlns:a="http://schemas.openxmlformats.org/drawingml/2006/main">
              <a:ext uri="{FF2B5EF4-FFF2-40B4-BE49-F238E27FC236}">
                <a16:creationId xmlns:a16="http://schemas.microsoft.com/office/drawing/2014/main" id="{5675441B-2910-4C9C-8E95-AA4D3FCD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人工確認客戶、儲位與圖片對應</a:t>
            </a:r>
          </a:p>
        </p:txBody>
      </p:sp>
      <p:sp>
        <p:nvSpPr>
          <p:cNvPr id="34" name="cost-cell-5-1-2">
            <a:extLst xmlns:a="http://schemas.openxmlformats.org/drawingml/2006/main">
              <a:ext uri="{FF2B5EF4-FFF2-40B4-BE49-F238E27FC236}">
                <a16:creationId xmlns:a16="http://schemas.microsoft.com/office/drawing/2014/main" id="{17CC36E2-607A-4ADB-97C6-533256A2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5-1-2">
            <a:extLst xmlns:a="http://schemas.openxmlformats.org/drawingml/2006/main">
              <a:ext uri="{FF2B5EF4-FFF2-40B4-BE49-F238E27FC236}">
                <a16:creationId xmlns:a16="http://schemas.microsoft.com/office/drawing/2014/main" id="{C8A6F725-7F81-4C99-A247-1E969818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指派客戶範圍與治具代碼快速定位</a:t>
            </a:r>
          </a:p>
        </p:txBody>
      </p:sp>
      <p:sp>
        <p:nvSpPr>
          <p:cNvPr id="36" name="cost-cell-5-2-0">
            <a:extLst xmlns:a="http://schemas.openxmlformats.org/drawingml/2006/main">
              <a:ext uri="{FF2B5EF4-FFF2-40B4-BE49-F238E27FC236}">
                <a16:creationId xmlns:a16="http://schemas.microsoft.com/office/drawing/2014/main" id="{20EDF1B8-BBC1-46AB-9729-64AB76DA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5-2-0">
            <a:extLst xmlns:a="http://schemas.openxmlformats.org/drawingml/2006/main">
              <a:ext uri="{FF2B5EF4-FFF2-40B4-BE49-F238E27FC236}">
                <a16:creationId xmlns:a16="http://schemas.microsoft.com/office/drawing/2014/main" id="{0753146B-FAD5-467A-9FD9-210F051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5-2-1">
            <a:extLst xmlns:a="http://schemas.openxmlformats.org/drawingml/2006/main">
              <a:ext uri="{FF2B5EF4-FFF2-40B4-BE49-F238E27FC236}">
                <a16:creationId xmlns:a16="http://schemas.microsoft.com/office/drawing/2014/main" id="{7C45C996-A3C4-48C8-A8DA-14B8ABD3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5-2-1">
            <a:extLst xmlns:a="http://schemas.openxmlformats.org/drawingml/2006/main">
              <a:ext uri="{FF2B5EF4-FFF2-40B4-BE49-F238E27FC236}">
                <a16:creationId xmlns:a16="http://schemas.microsoft.com/office/drawing/2014/main" id="{E25DD349-1818-4930-9D72-3C006C30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只靠前端隱藏，仍可能越權</a:t>
            </a:r>
          </a:p>
        </p:txBody>
      </p:sp>
      <p:sp>
        <p:nvSpPr>
          <p:cNvPr id="40" name="cost-cell-5-2-2">
            <a:extLst xmlns:a="http://schemas.openxmlformats.org/drawingml/2006/main">
              <a:ext uri="{FF2B5EF4-FFF2-40B4-BE49-F238E27FC236}">
                <a16:creationId xmlns:a16="http://schemas.microsoft.com/office/drawing/2014/main" id="{614F76E2-D0D8-4D13-B74A-E64C2562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5-2-2">
            <a:extLst xmlns:a="http://schemas.openxmlformats.org/drawingml/2006/main">
              <a:ext uri="{FF2B5EF4-FFF2-40B4-BE49-F238E27FC236}">
                <a16:creationId xmlns:a16="http://schemas.microsoft.com/office/drawing/2014/main" id="{796D5FF7-4606-4695-8728-E2207EEA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所有 API 在後端再次驗證角色與客戶範圍</a:t>
            </a:r>
          </a:p>
        </p:txBody>
      </p:sp>
      <p:sp>
        <p:nvSpPr>
          <p:cNvPr id="42" name="cost-cell-5-3-0">
            <a:extLst xmlns:a="http://schemas.openxmlformats.org/drawingml/2006/main">
              <a:ext uri="{FF2B5EF4-FFF2-40B4-BE49-F238E27FC236}">
                <a16:creationId xmlns:a16="http://schemas.microsoft.com/office/drawing/2014/main" id="{53F814CB-4F26-42D7-8DC9-C14F713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5-3-0">
            <a:extLst xmlns:a="http://schemas.openxmlformats.org/drawingml/2006/main">
              <a:ext uri="{FF2B5EF4-FFF2-40B4-BE49-F238E27FC236}">
                <a16:creationId xmlns:a16="http://schemas.microsoft.com/office/drawing/2014/main" id="{64D79A71-1404-4DD8-BDC6-96F2268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5-3-1">
            <a:extLst xmlns:a="http://schemas.openxmlformats.org/drawingml/2006/main">
              <a:ext uri="{FF2B5EF4-FFF2-40B4-BE49-F238E27FC236}">
                <a16:creationId xmlns:a16="http://schemas.microsoft.com/office/drawing/2014/main" id="{7C3A810C-378E-4A6F-8A77-877B7DCF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5-3-1">
            <a:extLst xmlns:a="http://schemas.openxmlformats.org/drawingml/2006/main">
              <a:ext uri="{FF2B5EF4-FFF2-40B4-BE49-F238E27FC236}">
                <a16:creationId xmlns:a16="http://schemas.microsoft.com/office/drawing/2014/main" id="{157FBDD9-1FC2-4409-B7D9-80ACCE5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圖片與刪除後歷史難追溯</a:t>
            </a:r>
          </a:p>
        </p:txBody>
      </p:sp>
      <p:sp>
        <p:nvSpPr>
          <p:cNvPr id="46" name="cost-cell-5-3-2">
            <a:extLst xmlns:a="http://schemas.openxmlformats.org/drawingml/2006/main">
              <a:ext uri="{FF2B5EF4-FFF2-40B4-BE49-F238E27FC236}">
                <a16:creationId xmlns:a16="http://schemas.microsoft.com/office/drawing/2014/main" id="{01320613-8139-4126-93E5-BDBF1E16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5-3-2">
            <a:extLst xmlns:a="http://schemas.openxmlformats.org/drawingml/2006/main">
              <a:ext uri="{FF2B5EF4-FFF2-40B4-BE49-F238E27FC236}">
                <a16:creationId xmlns:a16="http://schemas.microsoft.com/office/drawing/2014/main" id="{A3ABDA17-0C72-427C-A11F-21BFADD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客戶別檔案路徑；刪除可保留交易快照</a:t>
            </a:r>
          </a:p>
        </p:txBody>
      </p:sp>
      <p:sp>
        <p:nvSpPr>
          <p:cNvPr id="48" name="footer-5">
            <a:extLst xmlns:a="http://schemas.openxmlformats.org/drawingml/2006/main">
              <a:ext uri="{FF2B5EF4-FFF2-40B4-BE49-F238E27FC236}">
                <a16:creationId xmlns:a16="http://schemas.microsoft.com/office/drawing/2014/main" id="{B3B82BF1-6BE0-44AD-9C10-8E12C6BA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5">
            <a:extLst xmlns:a="http://schemas.openxmlformats.org/drawingml/2006/main">
              <a:ext uri="{FF2B5EF4-FFF2-40B4-BE49-F238E27FC236}">
                <a16:creationId xmlns:a16="http://schemas.microsoft.com/office/drawing/2014/main" id="{A6B3287B-5D98-4702-A58D-D1054807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5">
            <a:extLst xmlns:a="http://schemas.openxmlformats.org/drawingml/2006/main">
              <a:ext uri="{FF2B5EF4-FFF2-40B4-BE49-F238E27FC236}">
                <a16:creationId xmlns:a16="http://schemas.microsoft.com/office/drawing/2014/main" id="{51F2A2C5-B7BF-4563-A817-204C2B4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5">
            <a:extLst xmlns:a="http://schemas.openxmlformats.org/drawingml/2006/main">
              <a:ext uri="{FF2B5EF4-FFF2-40B4-BE49-F238E27FC236}">
                <a16:creationId xmlns:a16="http://schemas.microsoft.com/office/drawing/2014/main" id="{9F543A22-A69F-4B76-8973-270F2C7C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6D39617D-EAF5-44ED-A6F1-B396C4D5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5">
            <a:extLst xmlns:a="http://schemas.openxmlformats.org/drawingml/2006/main">
              <a:ext uri="{FF2B5EF4-FFF2-40B4-BE49-F238E27FC236}">
                <a16:creationId xmlns:a16="http://schemas.microsoft.com/office/drawing/2014/main" id="{271430E0-CDC0-4662-820F-302962A9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2E11437-0614-4DFC-AAB1-A0622F3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0783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2026-08-28T09:51:54.0370000Z</dcterms:created>
  <dcterms:modified xsi:type="dcterms:W3CDTF">2026-08-28T09:51:54.0370000Z</dcterms:modified>
</coreProperties>
</file>