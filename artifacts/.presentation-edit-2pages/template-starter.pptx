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b14e164ad4ef6" /><Relationship Type="http://schemas.openxmlformats.org/officeDocument/2006/relationships/extended-properties" Target="/docProps/app.xml" Id="R45dd3af3847b4c76" /><Relationship Type="http://schemas.openxmlformats.org/officeDocument/2006/relationships/officeDocument" Target="/ppt/presentation.xml" Id="Rcccd560cfa82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9b9f63da84b15"/>
  </p:sldMasterIdLst>
  <p:notesMasterIdLst>
    <p:notesMasterId xmlns:r="http://schemas.openxmlformats.org/officeDocument/2006/relationships" r:id="Rb1ace232956e415f"/>
  </p:notesMasterIdLst>
  <p:sldIdLst>
    <p:sldId xmlns:r="http://schemas.openxmlformats.org/officeDocument/2006/relationships" id="256" r:id="Rc1860e7011f349a3"/>
    <p:sldId xmlns:r="http://schemas.openxmlformats.org/officeDocument/2006/relationships" id="257" r:id="Rf8a79b9c4d844c87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6eaab235f4921" /><Relationship Type="http://schemas.openxmlformats.org/officeDocument/2006/relationships/slideMaster" Target="/ppt/slideMasters/slideMaster1.xml" Id="R9ae9b9f63da84b15" /><Relationship Type="http://schemas.openxmlformats.org/officeDocument/2006/relationships/notesMaster" Target="/ppt/notesMasters/notesMaster1.xml" Id="Rb1ace232956e415f" /><Relationship Type="http://schemas.openxmlformats.org/officeDocument/2006/relationships/presProps" Target="/ppt/presProps.xml" Id="R95f7d347fe3c4f18" /><Relationship Type="http://schemas.openxmlformats.org/officeDocument/2006/relationships/tableStyles" Target="/ppt/tableStyles.xml" Id="Rb8d78cf6feb843c5" /><Relationship Type="http://schemas.openxmlformats.org/officeDocument/2006/relationships/slide" Target="/ppt/slides/slide1.xml" Id="Rc1860e7011f349a3" /><Relationship Type="http://schemas.openxmlformats.org/officeDocument/2006/relationships/slide" Target="/ppt/slides/slide2.xml" Id="Rf8a79b9c4d84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efb8c4f5d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6f6297f794694" /><Relationship Type="http://schemas.openxmlformats.org/officeDocument/2006/relationships/notesMaster" Target="/ppt/notesMasters/notesMaster1.xml" Id="R8cc9c6bde776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3327cc331549be" /><Relationship Type="http://schemas.openxmlformats.org/officeDocument/2006/relationships/notesMaster" Target="/ppt/notesMasters/notesMaster1.xml" Id="R1b54c4fc829d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doc/backend-map.md</a:t>
            </a:r>
          </a:p>
          <a:p xmlns:a="http://schemas.openxmlformats.org/drawingml/2006/main">
            <a:r>
              <a:t>- backend/app/utils/identifier_rules.py</a:t>
            </a:r>
          </a:p>
          <a:p xmlns:a="http://schemas.openxmlformats.org/drawingml/2006/main">
            <a:r>
              <a:t>- frontend/src/utils/identifier.ts</a:t>
            </a:r>
          </a:p>
          <a:p xmlns:a="http://schemas.openxmlformats.org/drawingml/2006/main">
            <a:r>
              <a:t>- frontend/tests/visual/workbench.visual.spec.ts-snapshots/workbench-ledger-multiselect-open-desktop-1920-win32.png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doc/ARCHITECTURE.md</a:t>
            </a:r>
          </a:p>
          <a:p xmlns:a="http://schemas.openxmlformats.org/drawingml/2006/main">
            <a:r>
              <a:t>- backend/app/repositories/configuration_report_repository.py</a:t>
            </a:r>
          </a:p>
          <a:p xmlns:a="http://schemas.openxmlformats.org/drawingml/2006/main">
            <a:r>
              <a:t>- backend/app/services/configuration_report_service.py</a:t>
            </a:r>
          </a:p>
          <a:p xmlns:a="http://schemas.openxmlformats.org/drawingml/2006/main">
            <a:r>
              <a:t>- frontend/tests/visual/workbench.visual.spec.ts-snapshots/workbench-management-overview-desktop-1920-win32.png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a78032df5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b2713b14f84a0a" /><Relationship Type="http://schemas.openxmlformats.org/officeDocument/2006/relationships/slideLayout" Target="/ppt/slideLayouts/slideLayout1.xml" Id="R62dbb18e837648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bb18e837648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d0fcd47cf4710" /><Relationship Type="http://schemas.openxmlformats.org/officeDocument/2006/relationships/image" Target="/ppt/media/image.png" Id="Rf292ad4ffd094111" /><Relationship Type="http://schemas.openxmlformats.org/officeDocument/2006/relationships/notesSlide" Target="/ppt/notesSlides/notesSlide1.xml" Id="Rdd1caae4697c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dd10efac4eaf" /><Relationship Type="http://schemas.openxmlformats.org/officeDocument/2006/relationships/image" Target="/ppt/media/image2.png" Id="R77368a9954824519" /><Relationship Type="http://schemas.openxmlformats.org/officeDocument/2006/relationships/notesSlide" Target="/ppt/notesSlides/notesSlide2.xml" Id="Rf87b0cbc6ff942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2">
            <a:extLst xmlns:a="http://schemas.openxmlformats.org/drawingml/2006/main">
              <a:ext uri="{FF2B5EF4-FFF2-40B4-BE49-F238E27FC236}">
                <a16:creationId xmlns:a16="http://schemas.microsoft.com/office/drawing/2014/main" id="{2972D5FB-AACA-4DB5-853F-B4C7295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2">
            <a:extLst xmlns:a="http://schemas.openxmlformats.org/drawingml/2006/main">
              <a:ext uri="{FF2B5EF4-FFF2-40B4-BE49-F238E27FC236}">
                <a16:creationId xmlns:a16="http://schemas.microsoft.com/office/drawing/2014/main" id="{649A3774-A084-4D3A-92C7-C9615EC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2">
            <a:extLst xmlns:a="http://schemas.openxmlformats.org/drawingml/2006/main">
              <a:ext uri="{FF2B5EF4-FFF2-40B4-BE49-F238E27FC236}">
                <a16:creationId xmlns:a16="http://schemas.microsoft.com/office/drawing/2014/main" id="{5B4B3E12-9059-49AD-A47A-131F3E0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9FCC1846-6945-41DA-B0BD-B11D155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收退料由逐筆登錄改為批次校驗</a:t>
            </a:r>
          </a:p>
        </p:txBody>
      </p:sp>
      <p:sp>
        <p:nvSpPr>
          <p:cNvPr id="5" name="module-2">
            <a:extLst xmlns:a="http://schemas.openxmlformats.org/drawingml/2006/main">
              <a:ext uri="{FF2B5EF4-FFF2-40B4-BE49-F238E27FC236}">
                <a16:creationId xmlns:a16="http://schemas.microsoft.com/office/drawing/2014/main" id="{C4CF3004-8C66-4A9F-9E99-6B8005A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庫存管理</a:t>
            </a:r>
          </a:p>
        </p:txBody>
      </p:sp>
      <p:sp>
        <p:nvSpPr>
          <p:cNvPr id="6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91CBB2CE-5256-47B8-9FFE-684B85F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2">
            <a:extLst xmlns:a="http://schemas.openxmlformats.org/drawingml/2006/main">
              <a:ext uri="{FF2B5EF4-FFF2-40B4-BE49-F238E27FC236}">
                <a16:creationId xmlns:a16="http://schemas.microsoft.com/office/drawing/2014/main" id="{7A5D31BF-8B5C-419D-81AE-0E6FF31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2">
            <a:extLst xmlns:a="http://schemas.openxmlformats.org/drawingml/2006/main">
              <a:ext uri="{FF2B5EF4-FFF2-40B4-BE49-F238E27FC236}">
                <a16:creationId xmlns:a16="http://schemas.microsoft.com/office/drawing/2014/main" id="{A50FD392-E16D-4CC7-8445-D319F38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大量收料與退料若逐筆輸入，容易在治具編號、datecode／編號、來源與數量欄位發生漏填或格式不一致。</a:t>
            </a:r>
          </a:p>
        </p:txBody>
      </p:sp>
      <p:sp>
        <p:nvSpPr>
          <p:cNvPr id="9" name="reason-line-2">
            <a:extLst xmlns:a="http://schemas.openxmlformats.org/drawingml/2006/main">
              <a:ext uri="{FF2B5EF4-FFF2-40B4-BE49-F238E27FC236}">
                <a16:creationId xmlns:a16="http://schemas.microsoft.com/office/drawing/2014/main" id="{2D69651B-BF08-4CED-9046-694D6FC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2">
            <a:extLst xmlns:a="http://schemas.openxmlformats.org/drawingml/2006/main">
              <a:ext uri="{FF2B5EF4-FFF2-40B4-BE49-F238E27FC236}">
                <a16:creationId xmlns:a16="http://schemas.microsoft.com/office/drawing/2014/main" id="{725E231C-034D-45E2-8C0A-742566D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2">
            <a:extLst xmlns:a="http://schemas.openxmlformats.org/drawingml/2006/main">
              <a:ext uri="{FF2B5EF4-FFF2-40B4-BE49-F238E27FC236}">
                <a16:creationId xmlns:a16="http://schemas.microsoft.com/office/drawing/2014/main" id="{588DE5C3-9A6B-4984-B217-0344438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2">
            <a:extLst xmlns:a="http://schemas.openxmlformats.org/drawingml/2006/main">
              <a:ext uri="{FF2B5EF4-FFF2-40B4-BE49-F238E27FC236}">
                <a16:creationId xmlns:a16="http://schemas.microsoft.com/office/drawing/2014/main" id="{3352038C-1EBC-4996-873C-E37F74F4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2">
            <a:extLst xmlns:a="http://schemas.openxmlformats.org/drawingml/2006/main">
              <a:ext uri="{FF2B5EF4-FFF2-40B4-BE49-F238E27FC236}">
                <a16:creationId xmlns:a16="http://schemas.microsoft.com/office/drawing/2014/main" id="{CDE608D1-8A6D-4B04-8116-9032F32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2">
            <a:extLst xmlns:a="http://schemas.openxmlformats.org/drawingml/2006/main">
              <a:ext uri="{FF2B5EF4-FFF2-40B4-BE49-F238E27FC236}">
                <a16:creationId xmlns:a16="http://schemas.microsoft.com/office/drawing/2014/main" id="{45CDFE85-0856-4136-800B-F85F37B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2">
            <a:extLst xmlns:a="http://schemas.openxmlformats.org/drawingml/2006/main">
              <a:ext uri="{FF2B5EF4-FFF2-40B4-BE49-F238E27FC236}">
                <a16:creationId xmlns:a16="http://schemas.microsoft.com/office/drawing/2014/main" id="{0E42C681-9310-4F2F-83CD-61F4605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2">
            <a:extLst xmlns:a="http://schemas.openxmlformats.org/drawingml/2006/main">
              <a:ext uri="{FF2B5EF4-FFF2-40B4-BE49-F238E27FC236}">
                <a16:creationId xmlns:a16="http://schemas.microsoft.com/office/drawing/2014/main" id="{6D8FDE39-5EEF-4EE0-AF28-E9217FA8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逐筆輸入，核對成本高</a:t>
            </a:r>
          </a:p>
        </p:txBody>
      </p:sp>
      <p:sp>
        <p:nvSpPr>
          <p:cNvPr id="17" name="before-bullets-2">
            <a:extLst xmlns:a="http://schemas.openxmlformats.org/drawingml/2006/main">
              <a:ext uri="{FF2B5EF4-FFF2-40B4-BE49-F238E27FC236}">
                <a16:creationId xmlns:a16="http://schemas.microsoft.com/office/drawing/2014/main" id="{260D2994-1763-4921-BED7-9666188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大量資料需要重複鍵入相同欄位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短數字識別碼可能出現 1、01、0001 等差異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匯入衝突或錯誤不易在送出前集中確認</a:t>
            </a:r>
          </a:p>
        </p:txBody>
      </p:sp>
      <p:sp>
        <p:nvSpPr>
          <p:cNvPr id="18" name="before-keywords-bg-2">
            <a:extLst xmlns:a="http://schemas.openxmlformats.org/drawingml/2006/main">
              <a:ext uri="{FF2B5EF4-FFF2-40B4-BE49-F238E27FC236}">
                <a16:creationId xmlns:a16="http://schemas.microsoft.com/office/drawing/2014/main" id="{882B77DD-0D65-4C32-9980-ACF2BC2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2">
            <a:extLst xmlns:a="http://schemas.openxmlformats.org/drawingml/2006/main">
              <a:ext uri="{FF2B5EF4-FFF2-40B4-BE49-F238E27FC236}">
                <a16:creationId xmlns:a16="http://schemas.microsoft.com/office/drawing/2014/main" id="{9BCC754D-14E6-4940-82B8-3F8A419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逐筆登錄　｜　格式不一　｜　事後修正</a:t>
            </a:r>
          </a:p>
        </p:txBody>
      </p:sp>
      <p:sp>
        <p:nvSpPr>
          <p:cNvPr id="20" name="after-surface-2">
            <a:extLst xmlns:a="http://schemas.openxmlformats.org/drawingml/2006/main">
              <a:ext uri="{FF2B5EF4-FFF2-40B4-BE49-F238E27FC236}">
                <a16:creationId xmlns:a16="http://schemas.microsoft.com/office/drawing/2014/main" id="{C3AEDEC7-BA20-40EC-A723-10F7F9A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2">
            <a:extLst xmlns:a="http://schemas.openxmlformats.org/drawingml/2006/main">
              <a:ext uri="{FF2B5EF4-FFF2-40B4-BE49-F238E27FC236}">
                <a16:creationId xmlns:a16="http://schemas.microsoft.com/office/drawing/2014/main" id="{CA63A81F-A49C-4FB7-BEA5-90AFF0ED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2ad4ffd094111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2">
            <a:extLst xmlns:a="http://schemas.openxmlformats.org/drawingml/2006/main">
              <a:ext uri="{FF2B5EF4-FFF2-40B4-BE49-F238E27FC236}">
                <a16:creationId xmlns:a16="http://schemas.microsoft.com/office/drawing/2014/main" id="{07DD4A13-BB7B-4171-A834-DD7FA6D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批次貼上、預覽校驗、統一 identifier 規則與帳目追溯</a:t>
            </a:r>
          </a:p>
        </p:txBody>
      </p:sp>
      <p:sp>
        <p:nvSpPr>
          <p:cNvPr id="24" name="cost-cell-2-0-0">
            <a:extLst xmlns:a="http://schemas.openxmlformats.org/drawingml/2006/main">
              <a:ext uri="{FF2B5EF4-FFF2-40B4-BE49-F238E27FC236}">
                <a16:creationId xmlns:a16="http://schemas.microsoft.com/office/drawing/2014/main" id="{C592CEA4-E4C6-4059-8EC0-677677C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2-0-0">
            <a:extLst xmlns:a="http://schemas.openxmlformats.org/drawingml/2006/main">
              <a:ext uri="{FF2B5EF4-FFF2-40B4-BE49-F238E27FC236}">
                <a16:creationId xmlns:a16="http://schemas.microsoft.com/office/drawing/2014/main" id="{79940685-D208-4EB8-99AC-BBE8EFE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2-0-1">
            <a:extLst xmlns:a="http://schemas.openxmlformats.org/drawingml/2006/main">
              <a:ext uri="{FF2B5EF4-FFF2-40B4-BE49-F238E27FC236}">
                <a16:creationId xmlns:a16="http://schemas.microsoft.com/office/drawing/2014/main" id="{3EF3A608-CE5E-47C5-9E96-38BC5AF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2-0-1">
            <a:extLst xmlns:a="http://schemas.openxmlformats.org/drawingml/2006/main">
              <a:ext uri="{FF2B5EF4-FFF2-40B4-BE49-F238E27FC236}">
                <a16:creationId xmlns:a16="http://schemas.microsoft.com/office/drawing/2014/main" id="{478FE02A-43F7-4CE0-9DC4-C6D9F89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2-0-2">
            <a:extLst xmlns:a="http://schemas.openxmlformats.org/drawingml/2006/main">
              <a:ext uri="{FF2B5EF4-FFF2-40B4-BE49-F238E27FC236}">
                <a16:creationId xmlns:a16="http://schemas.microsoft.com/office/drawing/2014/main" id="{858CDCD2-2920-4FFD-BC27-98704265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2-0-2">
            <a:extLst xmlns:a="http://schemas.openxmlformats.org/drawingml/2006/main">
              <a:ext uri="{FF2B5EF4-FFF2-40B4-BE49-F238E27FC236}">
                <a16:creationId xmlns:a16="http://schemas.microsoft.com/office/drawing/2014/main" id="{49CFEE3C-2EE4-4044-8510-114903B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2-1-0">
            <a:extLst xmlns:a="http://schemas.openxmlformats.org/drawingml/2006/main">
              <a:ext uri="{FF2B5EF4-FFF2-40B4-BE49-F238E27FC236}">
                <a16:creationId xmlns:a16="http://schemas.microsoft.com/office/drawing/2014/main" id="{66196BE1-0B34-4A8E-8F50-98F147D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2-1-0">
            <a:extLst xmlns:a="http://schemas.openxmlformats.org/drawingml/2006/main">
              <a:ext uri="{FF2B5EF4-FFF2-40B4-BE49-F238E27FC236}">
                <a16:creationId xmlns:a16="http://schemas.microsoft.com/office/drawing/2014/main" id="{99045F6A-B55F-485C-A289-FB15AC7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2-1-1">
            <a:extLst xmlns:a="http://schemas.openxmlformats.org/drawingml/2006/main">
              <a:ext uri="{FF2B5EF4-FFF2-40B4-BE49-F238E27FC236}">
                <a16:creationId xmlns:a16="http://schemas.microsoft.com/office/drawing/2014/main" id="{FD549340-7D21-4C6A-839D-D57BF86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2-1-1">
            <a:extLst xmlns:a="http://schemas.openxmlformats.org/drawingml/2006/main">
              <a:ext uri="{FF2B5EF4-FFF2-40B4-BE49-F238E27FC236}">
                <a16:creationId xmlns:a16="http://schemas.microsoft.com/office/drawing/2014/main" id="{6CE04101-9345-4E58-81C5-E86588BD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逐筆登錄與重複核對</a:t>
            </a:r>
          </a:p>
        </p:txBody>
      </p:sp>
      <p:sp>
        <p:nvSpPr>
          <p:cNvPr id="34" name="cost-cell-2-1-2">
            <a:extLst xmlns:a="http://schemas.openxmlformats.org/drawingml/2006/main">
              <a:ext uri="{FF2B5EF4-FFF2-40B4-BE49-F238E27FC236}">
                <a16:creationId xmlns:a16="http://schemas.microsoft.com/office/drawing/2014/main" id="{ED27A8AD-3636-4AE1-AEED-B2E6A6F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2-1-2">
            <a:extLst xmlns:a="http://schemas.openxmlformats.org/drawingml/2006/main">
              <a:ext uri="{FF2B5EF4-FFF2-40B4-BE49-F238E27FC236}">
                <a16:creationId xmlns:a16="http://schemas.microsoft.com/office/drawing/2014/main" id="{5AA123DC-E6E1-44BB-8A61-DCAB2BC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試算表式批次貼上，一次處理多列</a:t>
            </a:r>
          </a:p>
        </p:txBody>
      </p:sp>
      <p:sp>
        <p:nvSpPr>
          <p:cNvPr id="36" name="cost-cell-2-2-0">
            <a:extLst xmlns:a="http://schemas.openxmlformats.org/drawingml/2006/main">
              <a:ext uri="{FF2B5EF4-FFF2-40B4-BE49-F238E27FC236}">
                <a16:creationId xmlns:a16="http://schemas.microsoft.com/office/drawing/2014/main" id="{FB0B1F3C-DB85-4C07-A271-4BFABC70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2-2-0">
            <a:extLst xmlns:a="http://schemas.openxmlformats.org/drawingml/2006/main">
              <a:ext uri="{FF2B5EF4-FFF2-40B4-BE49-F238E27FC236}">
                <a16:creationId xmlns:a16="http://schemas.microsoft.com/office/drawing/2014/main" id="{58ACF702-D53C-4FAC-AF57-6AB3CBE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2-2-1">
            <a:extLst xmlns:a="http://schemas.openxmlformats.org/drawingml/2006/main">
              <a:ext uri="{FF2B5EF4-FFF2-40B4-BE49-F238E27FC236}">
                <a16:creationId xmlns:a16="http://schemas.microsoft.com/office/drawing/2014/main" id="{87AF67C8-5385-456D-BB1B-B57F336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2-2-1">
            <a:extLst xmlns:a="http://schemas.openxmlformats.org/drawingml/2006/main">
              <a:ext uri="{FF2B5EF4-FFF2-40B4-BE49-F238E27FC236}">
                <a16:creationId xmlns:a16="http://schemas.microsoft.com/office/drawing/2014/main" id="{84424C63-36CF-40CF-B968-E6AE06B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識別碼格式不一、欄位遺漏</a:t>
            </a:r>
          </a:p>
        </p:txBody>
      </p:sp>
      <p:sp>
        <p:nvSpPr>
          <p:cNvPr id="40" name="cost-cell-2-2-2">
            <a:extLst xmlns:a="http://schemas.openxmlformats.org/drawingml/2006/main">
              <a:ext uri="{FF2B5EF4-FFF2-40B4-BE49-F238E27FC236}">
                <a16:creationId xmlns:a16="http://schemas.microsoft.com/office/drawing/2014/main" id="{EA97F73A-202F-4EC3-8249-1D503ECD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2-2-2">
            <a:extLst xmlns:a="http://schemas.openxmlformats.org/drawingml/2006/main">
              <a:ext uri="{FF2B5EF4-FFF2-40B4-BE49-F238E27FC236}">
                <a16:creationId xmlns:a16="http://schemas.microsoft.com/office/drawing/2014/main" id="{070700E0-B8F0-4B68-86D7-C7AEA41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前後端共用正規化與欄位驗證</a:t>
            </a:r>
          </a:p>
        </p:txBody>
      </p:sp>
      <p:sp>
        <p:nvSpPr>
          <p:cNvPr id="42" name="cost-cell-2-3-0">
            <a:extLst xmlns:a="http://schemas.openxmlformats.org/drawingml/2006/main">
              <a:ext uri="{FF2B5EF4-FFF2-40B4-BE49-F238E27FC236}">
                <a16:creationId xmlns:a16="http://schemas.microsoft.com/office/drawing/2014/main" id="{FA18FF83-3506-4083-8123-C499BD4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2-3-0">
            <a:extLst xmlns:a="http://schemas.openxmlformats.org/drawingml/2006/main">
              <a:ext uri="{FF2B5EF4-FFF2-40B4-BE49-F238E27FC236}">
                <a16:creationId xmlns:a16="http://schemas.microsoft.com/office/drawing/2014/main" id="{4D20AF2F-E179-426A-804F-44A9A2F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2-3-1">
            <a:extLst xmlns:a="http://schemas.openxmlformats.org/drawingml/2006/main">
              <a:ext uri="{FF2B5EF4-FFF2-40B4-BE49-F238E27FC236}">
                <a16:creationId xmlns:a16="http://schemas.microsoft.com/office/drawing/2014/main" id="{43EA833E-AE0F-40FC-9442-74853002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2-3-1">
            <a:extLst xmlns:a="http://schemas.openxmlformats.org/drawingml/2006/main">
              <a:ext uri="{FF2B5EF4-FFF2-40B4-BE49-F238E27FC236}">
                <a16:creationId xmlns:a16="http://schemas.microsoft.com/office/drawing/2014/main" id="{CD3A0F8E-EAD6-4B0A-A5EE-A412867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錯誤送出後才回頭修正</a:t>
            </a:r>
          </a:p>
        </p:txBody>
      </p:sp>
      <p:sp>
        <p:nvSpPr>
          <p:cNvPr id="46" name="cost-cell-2-3-2">
            <a:extLst xmlns:a="http://schemas.openxmlformats.org/drawingml/2006/main">
              <a:ext uri="{FF2B5EF4-FFF2-40B4-BE49-F238E27FC236}">
                <a16:creationId xmlns:a16="http://schemas.microsoft.com/office/drawing/2014/main" id="{ECCA6B34-BD82-4461-9728-BF86530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2-3-2">
            <a:extLst xmlns:a="http://schemas.openxmlformats.org/drawingml/2006/main">
              <a:ext uri="{FF2B5EF4-FFF2-40B4-BE49-F238E27FC236}">
                <a16:creationId xmlns:a16="http://schemas.microsoft.com/office/drawing/2014/main" id="{0A96FA6D-431C-43C0-81AB-6296F5F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送出前預覽；衝突與錯誤逐列提示</a:t>
            </a:r>
          </a:p>
        </p:txBody>
      </p:sp>
      <p:sp>
        <p:nvSpPr>
          <p:cNvPr id="48" name="footer-2">
            <a:extLst xmlns:a="http://schemas.openxmlformats.org/drawingml/2006/main">
              <a:ext uri="{FF2B5EF4-FFF2-40B4-BE49-F238E27FC236}">
                <a16:creationId xmlns:a16="http://schemas.microsoft.com/office/drawing/2014/main" id="{A9BEB3CB-EE99-4E35-BF81-275E85E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2">
            <a:extLst xmlns:a="http://schemas.openxmlformats.org/drawingml/2006/main">
              <a:ext uri="{FF2B5EF4-FFF2-40B4-BE49-F238E27FC236}">
                <a16:creationId xmlns:a16="http://schemas.microsoft.com/office/drawing/2014/main" id="{47DB1F81-FCFB-4BBC-AFBF-BC05DFD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2">
            <a:extLst xmlns:a="http://schemas.openxmlformats.org/drawingml/2006/main">
              <a:ext uri="{FF2B5EF4-FFF2-40B4-BE49-F238E27FC236}">
                <a16:creationId xmlns:a16="http://schemas.microsoft.com/office/drawing/2014/main" id="{9240543F-306F-453D-8F74-B1B4842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2">
            <a:extLst xmlns:a="http://schemas.openxmlformats.org/drawingml/2006/main">
              <a:ext uri="{FF2B5EF4-FFF2-40B4-BE49-F238E27FC236}">
                <a16:creationId xmlns:a16="http://schemas.microsoft.com/office/drawing/2014/main" id="{9025837D-197A-4AE6-841C-9E96687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B1186140-7D6A-4D64-BD63-C703137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2">
            <a:extLst xmlns:a="http://schemas.openxmlformats.org/drawingml/2006/main">
              <a:ext uri="{FF2B5EF4-FFF2-40B4-BE49-F238E27FC236}">
                <a16:creationId xmlns:a16="http://schemas.microsoft.com/office/drawing/2014/main" id="{F878A51D-D54E-4C4A-9B38-032D8CE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62CB68E-55AB-4F80-921F-2C37BDF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3635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4">
            <a:extLst xmlns:a="http://schemas.openxmlformats.org/drawingml/2006/main">
              <a:ext uri="{FF2B5EF4-FFF2-40B4-BE49-F238E27FC236}">
                <a16:creationId xmlns:a16="http://schemas.microsoft.com/office/drawing/2014/main" id="{41B11C0D-72DA-407F-8893-921703D1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4">
            <a:extLst xmlns:a="http://schemas.openxmlformats.org/drawingml/2006/main">
              <a:ext uri="{FF2B5EF4-FFF2-40B4-BE49-F238E27FC236}">
                <a16:creationId xmlns:a16="http://schemas.microsoft.com/office/drawing/2014/main" id="{F6AB4A5D-EABF-440D-A33A-BA29BAA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4">
            <a:extLst xmlns:a="http://schemas.openxmlformats.org/drawingml/2006/main">
              <a:ext uri="{FF2B5EF4-FFF2-40B4-BE49-F238E27FC236}">
                <a16:creationId xmlns:a16="http://schemas.microsoft.com/office/drawing/2014/main" id="{6B10D312-A85E-43CB-9729-BE74745F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3893F076-07C6-4FEA-9466-0DD997A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查詢與報表改為後端一致彙整</a:t>
            </a:r>
          </a:p>
        </p:txBody>
      </p:sp>
      <p:sp>
        <p:nvSpPr>
          <p:cNvPr id="5" name="module-4">
            <a:extLst xmlns:a="http://schemas.openxmlformats.org/drawingml/2006/main">
              <a:ext uri="{FF2B5EF4-FFF2-40B4-BE49-F238E27FC236}">
                <a16:creationId xmlns:a16="http://schemas.microsoft.com/office/drawing/2014/main" id="{E647466F-D9AB-4308-B8EC-A88A5E22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搜尋／報表</a:t>
            </a:r>
          </a:p>
        </p:txBody>
      </p:sp>
      <p:sp>
        <p:nvSpPr>
          <p:cNvPr id="6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50B06417-582A-409C-B98D-0BDB0292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4">
            <a:extLst xmlns:a="http://schemas.openxmlformats.org/drawingml/2006/main">
              <a:ext uri="{FF2B5EF4-FFF2-40B4-BE49-F238E27FC236}">
                <a16:creationId xmlns:a16="http://schemas.microsoft.com/office/drawing/2014/main" id="{3C0BF403-0A20-4AA6-93FE-9CC187E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4">
            <a:extLst xmlns:a="http://schemas.openxmlformats.org/drawingml/2006/main">
              <a:ext uri="{FF2B5EF4-FFF2-40B4-BE49-F238E27FC236}">
                <a16:creationId xmlns:a16="http://schemas.microsoft.com/office/drawing/2014/main" id="{D550E27F-AAC3-43A0-BC53-1905620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治具、機種、站點、庫存與交易資料若由前端逐頁拼接，容易出現分頁不一致、漏列與匯出結果不同步。</a:t>
            </a:r>
          </a:p>
        </p:txBody>
      </p:sp>
      <p:sp>
        <p:nvSpPr>
          <p:cNvPr id="9" name="reason-line-4">
            <a:extLst xmlns:a="http://schemas.openxmlformats.org/drawingml/2006/main">
              <a:ext uri="{FF2B5EF4-FFF2-40B4-BE49-F238E27FC236}">
                <a16:creationId xmlns:a16="http://schemas.microsoft.com/office/drawing/2014/main" id="{DD7C137E-78E8-4C50-8D5F-1B61FA5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4">
            <a:extLst xmlns:a="http://schemas.openxmlformats.org/drawingml/2006/main">
              <a:ext uri="{FF2B5EF4-FFF2-40B4-BE49-F238E27FC236}">
                <a16:creationId xmlns:a16="http://schemas.microsoft.com/office/drawing/2014/main" id="{04F91E51-49CF-48E4-A0E1-BA9352F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4">
            <a:extLst xmlns:a="http://schemas.openxmlformats.org/drawingml/2006/main">
              <a:ext uri="{FF2B5EF4-FFF2-40B4-BE49-F238E27FC236}">
                <a16:creationId xmlns:a16="http://schemas.microsoft.com/office/drawing/2014/main" id="{D14B6DE2-AD4B-4312-A319-916EA1E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4">
            <a:extLst xmlns:a="http://schemas.openxmlformats.org/drawingml/2006/main">
              <a:ext uri="{FF2B5EF4-FFF2-40B4-BE49-F238E27FC236}">
                <a16:creationId xmlns:a16="http://schemas.microsoft.com/office/drawing/2014/main" id="{D301CA23-FEB3-41D9-BA81-9BC339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4">
            <a:extLst xmlns:a="http://schemas.openxmlformats.org/drawingml/2006/main">
              <a:ext uri="{FF2B5EF4-FFF2-40B4-BE49-F238E27FC236}">
                <a16:creationId xmlns:a16="http://schemas.microsoft.com/office/drawing/2014/main" id="{F8998F6C-9F1A-4E46-B4ED-E798D3C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4">
            <a:extLst xmlns:a="http://schemas.openxmlformats.org/drawingml/2006/main">
              <a:ext uri="{FF2B5EF4-FFF2-40B4-BE49-F238E27FC236}">
                <a16:creationId xmlns:a16="http://schemas.microsoft.com/office/drawing/2014/main" id="{C7FF7C20-4600-46EA-B09D-6ED8F9C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4">
            <a:extLst xmlns:a="http://schemas.openxmlformats.org/drawingml/2006/main">
              <a:ext uri="{FF2B5EF4-FFF2-40B4-BE49-F238E27FC236}">
                <a16:creationId xmlns:a16="http://schemas.microsoft.com/office/drawing/2014/main" id="{E4A739E8-19C5-4908-94D8-AC21216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4">
            <a:extLst xmlns:a="http://schemas.openxmlformats.org/drawingml/2006/main">
              <a:ext uri="{FF2B5EF4-FFF2-40B4-BE49-F238E27FC236}">
                <a16:creationId xmlns:a16="http://schemas.microsoft.com/office/drawing/2014/main" id="{CF24972F-BD34-44FF-9386-1105800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前端拼資料，結果難一致</a:t>
            </a:r>
          </a:p>
        </p:txBody>
      </p:sp>
      <p:sp>
        <p:nvSpPr>
          <p:cNvPr id="17" name="before-bullets-4">
            <a:extLst xmlns:a="http://schemas.openxmlformats.org/drawingml/2006/main">
              <a:ext uri="{FF2B5EF4-FFF2-40B4-BE49-F238E27FC236}">
                <a16:creationId xmlns:a16="http://schemas.microsoft.com/office/drawing/2014/main" id="{EAF8B67A-61EE-43DF-86E8-A65BA3F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跨多個清單查找治具與關聯資訊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篩選、排序與彙總分散在頁面邏輯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畫面結果與完整匯出可能採不同資料範圍</a:t>
            </a:r>
          </a:p>
        </p:txBody>
      </p:sp>
      <p:sp>
        <p:nvSpPr>
          <p:cNvPr id="18" name="before-keywords-bg-4">
            <a:extLst xmlns:a="http://schemas.openxmlformats.org/drawingml/2006/main">
              <a:ext uri="{FF2B5EF4-FFF2-40B4-BE49-F238E27FC236}">
                <a16:creationId xmlns:a16="http://schemas.microsoft.com/office/drawing/2014/main" id="{6305F06D-18A9-4CE8-B0DB-5FF011A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4">
            <a:extLst xmlns:a="http://schemas.openxmlformats.org/drawingml/2006/main">
              <a:ext uri="{FF2B5EF4-FFF2-40B4-BE49-F238E27FC236}">
                <a16:creationId xmlns:a16="http://schemas.microsoft.com/office/drawing/2014/main" id="{0C6FC478-2CF8-4CCF-BC71-605BB26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跨表查找　｜　分頁漂移　｜　匯出口徑不一</a:t>
            </a:r>
          </a:p>
        </p:txBody>
      </p:sp>
      <p:sp>
        <p:nvSpPr>
          <p:cNvPr id="20" name="after-surface-4">
            <a:extLst xmlns:a="http://schemas.openxmlformats.org/drawingml/2006/main">
              <a:ext uri="{FF2B5EF4-FFF2-40B4-BE49-F238E27FC236}">
                <a16:creationId xmlns:a16="http://schemas.microsoft.com/office/drawing/2014/main" id="{352A8AE6-79C0-4750-B194-CADC9278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4">
            <a:extLst xmlns:a="http://schemas.openxmlformats.org/drawingml/2006/main">
              <a:ext uri="{FF2B5EF4-FFF2-40B4-BE49-F238E27FC236}">
                <a16:creationId xmlns:a16="http://schemas.microsoft.com/office/drawing/2014/main" id="{282BBEE4-9AE2-41C8-8E45-66E1163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68a9954824519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4">
            <a:extLst xmlns:a="http://schemas.openxmlformats.org/drawingml/2006/main">
              <a:ext uri="{FF2B5EF4-FFF2-40B4-BE49-F238E27FC236}">
                <a16:creationId xmlns:a16="http://schemas.microsoft.com/office/drawing/2014/main" id="{5ADAFFAF-1006-4101-9094-397A88F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後端讀模型統一篩選、排序、分頁、彙總與完整匯出</a:t>
            </a:r>
          </a:p>
        </p:txBody>
      </p:sp>
      <p:sp>
        <p:nvSpPr>
          <p:cNvPr id="24" name="cost-cell-4-0-0">
            <a:extLst xmlns:a="http://schemas.openxmlformats.org/drawingml/2006/main">
              <a:ext uri="{FF2B5EF4-FFF2-40B4-BE49-F238E27FC236}">
                <a16:creationId xmlns:a16="http://schemas.microsoft.com/office/drawing/2014/main" id="{E27E0E7F-E105-4E13-861C-182EB8C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4-0-0">
            <a:extLst xmlns:a="http://schemas.openxmlformats.org/drawingml/2006/main">
              <a:ext uri="{FF2B5EF4-FFF2-40B4-BE49-F238E27FC236}">
                <a16:creationId xmlns:a16="http://schemas.microsoft.com/office/drawing/2014/main" id="{787CC60C-C0D2-496A-9155-45D434B4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4-0-1">
            <a:extLst xmlns:a="http://schemas.openxmlformats.org/drawingml/2006/main">
              <a:ext uri="{FF2B5EF4-FFF2-40B4-BE49-F238E27FC236}">
                <a16:creationId xmlns:a16="http://schemas.microsoft.com/office/drawing/2014/main" id="{DFB6586C-F0A6-4075-A333-08CC3D9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4-0-1">
            <a:extLst xmlns:a="http://schemas.openxmlformats.org/drawingml/2006/main">
              <a:ext uri="{FF2B5EF4-FFF2-40B4-BE49-F238E27FC236}">
                <a16:creationId xmlns:a16="http://schemas.microsoft.com/office/drawing/2014/main" id="{F8AA9CEC-8A8E-4B2A-97E1-7E3900C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4-0-2">
            <a:extLst xmlns:a="http://schemas.openxmlformats.org/drawingml/2006/main">
              <a:ext uri="{FF2B5EF4-FFF2-40B4-BE49-F238E27FC236}">
                <a16:creationId xmlns:a16="http://schemas.microsoft.com/office/drawing/2014/main" id="{35AFFB19-F6F5-47B8-98BA-0014494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4-0-2">
            <a:extLst xmlns:a="http://schemas.openxmlformats.org/drawingml/2006/main">
              <a:ext uri="{FF2B5EF4-FFF2-40B4-BE49-F238E27FC236}">
                <a16:creationId xmlns:a16="http://schemas.microsoft.com/office/drawing/2014/main" id="{157381D8-FE2B-4309-B050-83CBA8D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4-1-0">
            <a:extLst xmlns:a="http://schemas.openxmlformats.org/drawingml/2006/main">
              <a:ext uri="{FF2B5EF4-FFF2-40B4-BE49-F238E27FC236}">
                <a16:creationId xmlns:a16="http://schemas.microsoft.com/office/drawing/2014/main" id="{8531ED51-6D89-43D2-BCB5-242ABAF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4-1-0">
            <a:extLst xmlns:a="http://schemas.openxmlformats.org/drawingml/2006/main">
              <a:ext uri="{FF2B5EF4-FFF2-40B4-BE49-F238E27FC236}">
                <a16:creationId xmlns:a16="http://schemas.microsoft.com/office/drawing/2014/main" id="{43105690-3802-4C8C-A316-3EE10B3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4-1-1">
            <a:extLst xmlns:a="http://schemas.openxmlformats.org/drawingml/2006/main">
              <a:ext uri="{FF2B5EF4-FFF2-40B4-BE49-F238E27FC236}">
                <a16:creationId xmlns:a16="http://schemas.microsoft.com/office/drawing/2014/main" id="{08FD4896-0652-47EF-BD92-87F29D8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4-1-1">
            <a:extLst xmlns:a="http://schemas.openxmlformats.org/drawingml/2006/main">
              <a:ext uri="{FF2B5EF4-FFF2-40B4-BE49-F238E27FC236}">
                <a16:creationId xmlns:a16="http://schemas.microsoft.com/office/drawing/2014/main" id="{C176837A-0E5E-446C-ACA2-566D1E9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人工交叉查詢多張清單</a:t>
            </a:r>
          </a:p>
        </p:txBody>
      </p:sp>
      <p:sp>
        <p:nvSpPr>
          <p:cNvPr id="34" name="cost-cell-4-1-2">
            <a:extLst xmlns:a="http://schemas.openxmlformats.org/drawingml/2006/main">
              <a:ext uri="{FF2B5EF4-FFF2-40B4-BE49-F238E27FC236}">
                <a16:creationId xmlns:a16="http://schemas.microsoft.com/office/drawing/2014/main" id="{B2CC2C06-C5BA-428A-BE3B-9434640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4-1-2">
            <a:extLst xmlns:a="http://schemas.openxmlformats.org/drawingml/2006/main">
              <a:ext uri="{FF2B5EF4-FFF2-40B4-BE49-F238E27FC236}">
                <a16:creationId xmlns:a16="http://schemas.microsoft.com/office/drawing/2014/main" id="{1BB9F011-E004-4AE5-AA65-BA47A51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搜尋優先流程與聯動篩選</a:t>
            </a:r>
          </a:p>
        </p:txBody>
      </p:sp>
      <p:sp>
        <p:nvSpPr>
          <p:cNvPr id="36" name="cost-cell-4-2-0">
            <a:extLst xmlns:a="http://schemas.openxmlformats.org/drawingml/2006/main">
              <a:ext uri="{FF2B5EF4-FFF2-40B4-BE49-F238E27FC236}">
                <a16:creationId xmlns:a16="http://schemas.microsoft.com/office/drawing/2014/main" id="{827CEABB-8881-40BB-BFDE-7E2A573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4-2-0">
            <a:extLst xmlns:a="http://schemas.openxmlformats.org/drawingml/2006/main">
              <a:ext uri="{FF2B5EF4-FFF2-40B4-BE49-F238E27FC236}">
                <a16:creationId xmlns:a16="http://schemas.microsoft.com/office/drawing/2014/main" id="{2D6309DC-83C6-48E6-A829-4A4489A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4-2-1">
            <a:extLst xmlns:a="http://schemas.openxmlformats.org/drawingml/2006/main">
              <a:ext uri="{FF2B5EF4-FFF2-40B4-BE49-F238E27FC236}">
                <a16:creationId xmlns:a16="http://schemas.microsoft.com/office/drawing/2014/main" id="{F64C9A0D-865C-4D2F-AAC1-7978C30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4-2-1">
            <a:extLst xmlns:a="http://schemas.openxmlformats.org/drawingml/2006/main">
              <a:ext uri="{FF2B5EF4-FFF2-40B4-BE49-F238E27FC236}">
                <a16:creationId xmlns:a16="http://schemas.microsoft.com/office/drawing/2014/main" id="{E9C99E49-A81F-44CA-B056-0369E7F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頁面端拼接造成漏列或重複</a:t>
            </a:r>
          </a:p>
        </p:txBody>
      </p:sp>
      <p:sp>
        <p:nvSpPr>
          <p:cNvPr id="40" name="cost-cell-4-2-2">
            <a:extLst xmlns:a="http://schemas.openxmlformats.org/drawingml/2006/main">
              <a:ext uri="{FF2B5EF4-FFF2-40B4-BE49-F238E27FC236}">
                <a16:creationId xmlns:a16="http://schemas.microsoft.com/office/drawing/2014/main" id="{66941949-B0E3-49DD-8253-BD7E16D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4-2-2">
            <a:extLst xmlns:a="http://schemas.openxmlformats.org/drawingml/2006/main">
              <a:ext uri="{FF2B5EF4-FFF2-40B4-BE49-F238E27FC236}">
                <a16:creationId xmlns:a16="http://schemas.microsoft.com/office/drawing/2014/main" id="{0D17420C-C45F-4DDA-AE6B-B5BB034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專用 repository＋service 產生一致讀模型</a:t>
            </a:r>
          </a:p>
        </p:txBody>
      </p:sp>
      <p:sp>
        <p:nvSpPr>
          <p:cNvPr id="42" name="cost-cell-4-3-0">
            <a:extLst xmlns:a="http://schemas.openxmlformats.org/drawingml/2006/main">
              <a:ext uri="{FF2B5EF4-FFF2-40B4-BE49-F238E27FC236}">
                <a16:creationId xmlns:a16="http://schemas.microsoft.com/office/drawing/2014/main" id="{63DE6225-F984-4CAC-A32C-33B8683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4-3-0">
            <a:extLst xmlns:a="http://schemas.openxmlformats.org/drawingml/2006/main">
              <a:ext uri="{FF2B5EF4-FFF2-40B4-BE49-F238E27FC236}">
                <a16:creationId xmlns:a16="http://schemas.microsoft.com/office/drawing/2014/main" id="{CD5674B7-92FA-4F76-BDB1-0BFB9E4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4-3-1">
            <a:extLst xmlns:a="http://schemas.openxmlformats.org/drawingml/2006/main">
              <a:ext uri="{FF2B5EF4-FFF2-40B4-BE49-F238E27FC236}">
                <a16:creationId xmlns:a16="http://schemas.microsoft.com/office/drawing/2014/main" id="{657F13AC-AA48-483B-9F9E-AD3FF67A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4-3-1">
            <a:extLst xmlns:a="http://schemas.openxmlformats.org/drawingml/2006/main">
              <a:ext uri="{FF2B5EF4-FFF2-40B4-BE49-F238E27FC236}">
                <a16:creationId xmlns:a16="http://schemas.microsoft.com/office/drawing/2014/main" id="{057DAD6D-9B51-41A1-B04F-BCC0E30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畫面與匯出需重複操作</a:t>
            </a:r>
          </a:p>
        </p:txBody>
      </p:sp>
      <p:sp>
        <p:nvSpPr>
          <p:cNvPr id="46" name="cost-cell-4-3-2">
            <a:extLst xmlns:a="http://schemas.openxmlformats.org/drawingml/2006/main">
              <a:ext uri="{FF2B5EF4-FFF2-40B4-BE49-F238E27FC236}">
                <a16:creationId xmlns:a16="http://schemas.microsoft.com/office/drawing/2014/main" id="{2F3F7B10-B1A7-4ADE-8F20-C7744C4B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4-3-2">
            <a:extLst xmlns:a="http://schemas.openxmlformats.org/drawingml/2006/main">
              <a:ext uri="{FF2B5EF4-FFF2-40B4-BE49-F238E27FC236}">
                <a16:creationId xmlns:a16="http://schemas.microsoft.com/office/drawing/2014/main" id="{43449048-81EB-45C7-9CC9-E1C057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同一篩選條件支援 CSV／XLSX 完整匯出</a:t>
            </a:r>
          </a:p>
        </p:txBody>
      </p:sp>
      <p:sp>
        <p:nvSpPr>
          <p:cNvPr id="48" name="footer-4">
            <a:extLst xmlns:a="http://schemas.openxmlformats.org/drawingml/2006/main">
              <a:ext uri="{FF2B5EF4-FFF2-40B4-BE49-F238E27FC236}">
                <a16:creationId xmlns:a16="http://schemas.microsoft.com/office/drawing/2014/main" id="{D96A8F6C-F963-48CE-9541-1CC5878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4">
            <a:extLst xmlns:a="http://schemas.openxmlformats.org/drawingml/2006/main">
              <a:ext uri="{FF2B5EF4-FFF2-40B4-BE49-F238E27FC236}">
                <a16:creationId xmlns:a16="http://schemas.microsoft.com/office/drawing/2014/main" id="{255DA2DA-7E39-4CE6-8002-0C19B08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4">
            <a:extLst xmlns:a="http://schemas.openxmlformats.org/drawingml/2006/main">
              <a:ext uri="{FF2B5EF4-FFF2-40B4-BE49-F238E27FC236}">
                <a16:creationId xmlns:a16="http://schemas.microsoft.com/office/drawing/2014/main" id="{18FA387A-92A9-4FCE-8A05-8BC5D45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4">
            <a:extLst xmlns:a="http://schemas.openxmlformats.org/drawingml/2006/main">
              <a:ext uri="{FF2B5EF4-FFF2-40B4-BE49-F238E27FC236}">
                <a16:creationId xmlns:a16="http://schemas.microsoft.com/office/drawing/2014/main" id="{342E75E1-94A3-413F-AC28-B5F0D8B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DAB6B57-C674-4612-A4C2-294998DA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4">
            <a:extLst xmlns:a="http://schemas.openxmlformats.org/drawingml/2006/main">
              <a:ext uri="{FF2B5EF4-FFF2-40B4-BE49-F238E27FC236}">
                <a16:creationId xmlns:a16="http://schemas.microsoft.com/office/drawing/2014/main" id="{1CF30902-C603-4B26-BD5F-416C39E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502F394-BD2C-4E45-80F6-E035A1E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3772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2026-08-28T11:51:23.9310000Z</dcterms:created>
  <dcterms:modified xsi:type="dcterms:W3CDTF">2026-08-28T11:51:23.9310000Z</dcterms:modified>
</coreProperties>
</file>