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60a531d5f24455" /><Relationship Type="http://schemas.openxmlformats.org/officeDocument/2006/relationships/extended-properties" Target="/docProps/app.xml" Id="Ra49dd186a3d54b42" /><Relationship Type="http://schemas.openxmlformats.org/officeDocument/2006/relationships/officeDocument" Target="/ppt/presentation.xml" Id="R78d1cab8a6b644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a29e9e8fee44ba"/>
  </p:sldMasterIdLst>
  <p:notesMasterIdLst>
    <p:notesMasterId xmlns:r="http://schemas.openxmlformats.org/officeDocument/2006/relationships" r:id="Rfda290e6c69a4176"/>
  </p:notesMasterIdLst>
  <p:sldIdLst>
    <p:sldId xmlns:r="http://schemas.openxmlformats.org/officeDocument/2006/relationships" id="256" r:id="Ree856332b3714f05"/>
    <p:sldId xmlns:r="http://schemas.openxmlformats.org/officeDocument/2006/relationships" id="257" r:id="Reb919d9f0c224f9f"/>
  </p:sldIdLst>
  <p:sldSz cx="12192000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c1a84d7d9b4dc7" /><Relationship Type="http://schemas.openxmlformats.org/officeDocument/2006/relationships/slideMaster" Target="/ppt/slideMasters/slideMaster1.xml" Id="Rfba29e9e8fee44ba" /><Relationship Type="http://schemas.openxmlformats.org/officeDocument/2006/relationships/notesMaster" Target="/ppt/notesMasters/notesMaster1.xml" Id="Rfda290e6c69a4176" /><Relationship Type="http://schemas.openxmlformats.org/officeDocument/2006/relationships/presProps" Target="/ppt/presProps.xml" Id="Rd948c8919cef453f" /><Relationship Type="http://schemas.openxmlformats.org/officeDocument/2006/relationships/tableStyles" Target="/ppt/tableStyles.xml" Id="Rba68e43af1ee468c" /><Relationship Type="http://schemas.openxmlformats.org/officeDocument/2006/relationships/slide" Target="/ppt/slides/slide1.xml" Id="Ree856332b3714f05" /><Relationship Type="http://schemas.openxmlformats.org/officeDocument/2006/relationships/slide" Target="/ppt/slides/slide2.xml" Id="Reb919d9f0c224f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a09c1cf68349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72e1456fe648fe" /><Relationship Type="http://schemas.openxmlformats.org/officeDocument/2006/relationships/notesMaster" Target="/ppt/notesMasters/notesMaster1.xml" Id="R175325ce07be43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64f11c3c1b4be9" /><Relationship Type="http://schemas.openxmlformats.org/officeDocument/2006/relationships/notesMaster" Target="/ppt/notesMasters/notesMaster1.xml" Id="R7011eb8f5bac40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doc/ARCHITECTURE_LANDING.md</a:t>
            </a:r>
          </a:p>
          <a:p xmlns:a="http://schemas.openxmlformats.org/drawingml/2006/main">
            <a:r>
              <a:t>- doc/backend-map.md</a:t>
            </a:r>
          </a:p>
          <a:p xmlns:a="http://schemas.openxmlformats.org/drawingml/2006/main">
            <a:r>
              <a:t>- backend/app/utils/identifier_rules.py</a:t>
            </a:r>
          </a:p>
          <a:p xmlns:a="http://schemas.openxmlformats.org/drawingml/2006/main">
            <a:r>
              <a:t>- frontend/src/utils/identifier.ts</a:t>
            </a:r>
          </a:p>
          <a:p xmlns:a="http://schemas.openxmlformats.org/drawingml/2006/main">
            <a:r>
              <a:t>- frontend/tests/visual/workbench.visual.spec.ts-snapshots/workbench-ledger-multiselect-open-desktop-1920-win32.png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AGENTS.md</a:t>
            </a:r>
          </a:p>
          <a:p xmlns:a="http://schemas.openxmlformats.org/drawingml/2006/main">
            <a:r>
              <a:t>- doc/ARCHITECTURE_LANDING.md</a:t>
            </a:r>
          </a:p>
          <a:p xmlns:a="http://schemas.openxmlformats.org/drawingml/2006/main">
            <a:r>
              <a:t>- doc/ARCHITECTURE.md</a:t>
            </a:r>
          </a:p>
          <a:p xmlns:a="http://schemas.openxmlformats.org/drawingml/2006/main">
            <a:r>
              <a:t>- doc/backend-map.md</a:t>
            </a:r>
          </a:p>
          <a:p xmlns:a="http://schemas.openxmlformats.org/drawingml/2006/main">
            <a:r>
              <a:t>- backend/app/services/production_service.py</a:t>
            </a:r>
          </a:p>
          <a:p xmlns:a="http://schemas.openxmlformats.org/drawingml/2006/main">
            <a:r>
              <a:t>- backend/app/repositories/configuration_report_repository.py</a:t>
            </a:r>
          </a:p>
          <a:p xmlns:a="http://schemas.openxmlformats.org/drawingml/2006/main">
            <a:r>
              <a:t>- backend/app/core/auth.py</a:t>
            </a:r>
          </a:p>
          <a:p xmlns:a="http://schemas.openxmlformats.org/drawingml/2006/main">
            <a:r>
              <a:t>- frontend/tests/visual/workbench.visual.spec.ts-snapshots/workbench-management-overview-desktop-1920-win32.png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d773c41ce943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072bdeaf1542d8" /><Relationship Type="http://schemas.openxmlformats.org/officeDocument/2006/relationships/slideLayout" Target="/ppt/slideLayouts/slideLayout1.xml" Id="Rd8cbbd08110746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cbbd08110746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2b9eb4b914940" /><Relationship Type="http://schemas.openxmlformats.org/officeDocument/2006/relationships/image" Target="/ppt/media/image.png" Id="R748fdcec3bb04c66" /><Relationship Type="http://schemas.openxmlformats.org/officeDocument/2006/relationships/notesSlide" Target="/ppt/notesSlides/notesSlide1.xml" Id="R7fb36fe9910144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42c41e7f94dfd" /><Relationship Type="http://schemas.openxmlformats.org/officeDocument/2006/relationships/image" Target="/ppt/media/image2.png" Id="R7b402100133d422b" /><Relationship Type="http://schemas.openxmlformats.org/officeDocument/2006/relationships/notesSlide" Target="/ppt/notesSlides/notesSlide2.xml" Id="R38319dbe2ea747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5E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left-accent-2">
            <a:extLst xmlns:a="http://schemas.openxmlformats.org/drawingml/2006/main">
              <a:ext uri="{FF2B5EF4-FFF2-40B4-BE49-F238E27FC236}">
                <a16:creationId xmlns:a16="http://schemas.microsoft.com/office/drawing/2014/main" id="{2972D5FB-AACA-4DB5-853F-B4C7295E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1075"/>
            <a:ext cx="476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2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uter-2">
            <a:extLst xmlns:a="http://schemas.openxmlformats.org/drawingml/2006/main">
              <a:ext uri="{FF2B5EF4-FFF2-40B4-BE49-F238E27FC236}">
                <a16:creationId xmlns:a16="http://schemas.microsoft.com/office/drawing/2014/main" id="{649A3774-A084-4D3A-92C7-C9615ECD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77600" cy="773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3" name="owner-2">
            <a:extLst xmlns:a="http://schemas.openxmlformats.org/drawingml/2006/main">
              <a:ext uri="{FF2B5EF4-FFF2-40B4-BE49-F238E27FC236}">
                <a16:creationId xmlns:a16="http://schemas.microsoft.com/office/drawing/2014/main" id="{5B4B3E12-9059-49AD-A47A-131F3E04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TE－專案改善</a:t>
            </a:r>
          </a:p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9FCC1846-6945-41DA-B0BD-B11D155D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現場操作與庫存整合為批次工作台</a:t>
            </a:r>
          </a:p>
        </p:txBody>
      </p:sp>
      <p:sp>
        <p:nvSpPr>
          <p:cNvPr id="5" name="module-2">
            <a:extLst xmlns:a="http://schemas.openxmlformats.org/drawingml/2006/main">
              <a:ext uri="{FF2B5EF4-FFF2-40B4-BE49-F238E27FC236}">
                <a16:creationId xmlns:a16="http://schemas.microsoft.com/office/drawing/2014/main" id="{C4CF3004-8C66-4A9F-9E99-6B8005A5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E3A8A"/>
                </a:solidFill>
              </a:defRPr>
            </a:pPr>
            <a:r>
              <a:rPr sz="1050" b="1">
                <a:solidFill>
                  <a:srgbClr val="1E3A8A"/>
                </a:solidFill>
              </a:rPr>
              <a:t>現場／庫存</a:t>
            </a:r>
          </a:p>
        </p:txBody>
      </p:sp>
      <p:sp>
        <p:nvSpPr>
          <p:cNvPr id="6" name="header-line-2">
            <a:extLst xmlns:a="http://schemas.openxmlformats.org/drawingml/2006/main">
              <a:ext uri="{FF2B5EF4-FFF2-40B4-BE49-F238E27FC236}">
                <a16:creationId xmlns:a16="http://schemas.microsoft.com/office/drawing/2014/main" id="{91CBB2CE-5256-47B8-9FFE-684B85FD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7" name="reason-label-2">
            <a:extLst xmlns:a="http://schemas.openxmlformats.org/drawingml/2006/main">
              <a:ext uri="{FF2B5EF4-FFF2-40B4-BE49-F238E27FC236}">
                <a16:creationId xmlns:a16="http://schemas.microsoft.com/office/drawing/2014/main" id="{7A5D31BF-8B5C-419D-81AE-0E6FF31D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382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改善原因：</a:t>
            </a:r>
          </a:p>
        </p:txBody>
      </p:sp>
      <p:sp>
        <p:nvSpPr>
          <p:cNvPr id="8" name="reason-2">
            <a:extLst xmlns:a="http://schemas.openxmlformats.org/drawingml/2006/main">
              <a:ext uri="{FF2B5EF4-FFF2-40B4-BE49-F238E27FC236}">
                <a16:creationId xmlns:a16="http://schemas.microsoft.com/office/drawing/2014/main" id="{A50FD392-E16D-4CC7-8445-D319F386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362075"/>
            <a:ext cx="969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收退料、查詢與庫存若分散處理，會增加重複輸入、格式不一與事後核對，因此整合為共用工作台與批次校驗流程。</a:t>
            </a:r>
          </a:p>
        </p:txBody>
      </p:sp>
      <p:sp>
        <p:nvSpPr>
          <p:cNvPr id="9" name="reason-line-2">
            <a:extLst xmlns:a="http://schemas.openxmlformats.org/drawingml/2006/main">
              <a:ext uri="{FF2B5EF4-FFF2-40B4-BE49-F238E27FC236}">
                <a16:creationId xmlns:a16="http://schemas.microsoft.com/office/drawing/2014/main" id="{2D69651B-BF08-4CED-9046-694D6FC9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0" name="before-label-2">
            <a:extLst xmlns:a="http://schemas.openxmlformats.org/drawingml/2006/main">
              <a:ext uri="{FF2B5EF4-FFF2-40B4-BE49-F238E27FC236}">
                <a16:creationId xmlns:a16="http://schemas.microsoft.com/office/drawing/2014/main" id="{725E231C-034D-45E2-8C0A-742566DB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改善前</a:t>
            </a:r>
          </a:p>
        </p:txBody>
      </p:sp>
      <p:sp>
        <p:nvSpPr>
          <p:cNvPr id="11" name="after-label-2">
            <a:extLst xmlns:a="http://schemas.openxmlformats.org/drawingml/2006/main">
              <a:ext uri="{FF2B5EF4-FFF2-40B4-BE49-F238E27FC236}">
                <a16:creationId xmlns:a16="http://schemas.microsoft.com/office/drawing/2014/main" id="{588DE5C3-9A6B-4984-B217-03444383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改善後</a:t>
            </a:r>
          </a:p>
        </p:txBody>
      </p:sp>
      <p:sp>
        <p:nvSpPr>
          <p:cNvPr id="12" name="panel-top-2">
            <a:extLst xmlns:a="http://schemas.openxmlformats.org/drawingml/2006/main">
              <a:ext uri="{FF2B5EF4-FFF2-40B4-BE49-F238E27FC236}">
                <a16:creationId xmlns:a16="http://schemas.microsoft.com/office/drawing/2014/main" id="{3352038C-1EBC-4996-873C-E37F74F4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3" name="panel-divider-2">
            <a:extLst xmlns:a="http://schemas.openxmlformats.org/drawingml/2006/main">
              <a:ext uri="{FF2B5EF4-FFF2-40B4-BE49-F238E27FC236}">
                <a16:creationId xmlns:a16="http://schemas.microsoft.com/office/drawing/2014/main" id="{CDE608D1-8A6D-4B04-8116-9032F32E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0" cy="417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4" name="before-surface-2">
            <a:extLst xmlns:a="http://schemas.openxmlformats.org/drawingml/2006/main">
              <a:ext uri="{FF2B5EF4-FFF2-40B4-BE49-F238E27FC236}">
                <a16:creationId xmlns:a16="http://schemas.microsoft.com/office/drawing/2014/main" id="{45CDFE85-0856-4136-800B-F85F37BD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419350"/>
            <a:ext cx="562927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efore-accent-2">
            <a:extLst xmlns:a="http://schemas.openxmlformats.org/drawingml/2006/main">
              <a:ext uri="{FF2B5EF4-FFF2-40B4-BE49-F238E27FC236}">
                <a16:creationId xmlns:a16="http://schemas.microsoft.com/office/drawing/2014/main" id="{0E42C681-9310-4F2F-83CD-61F46053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762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2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efore-headline-2">
            <a:extLst xmlns:a="http://schemas.openxmlformats.org/drawingml/2006/main">
              <a:ext uri="{FF2B5EF4-FFF2-40B4-BE49-F238E27FC236}">
                <a16:creationId xmlns:a16="http://schemas.microsoft.com/office/drawing/2014/main" id="{6D8FDE39-5EEF-4EE0-AF28-E9217FA8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43216"/>
                </a:solidFill>
              </a:defRPr>
            </a:pPr>
            <a:r>
              <a:rPr sz="2025" b="1">
                <a:solidFill>
                  <a:srgbClr val="B43216"/>
                </a:solidFill>
              </a:rPr>
              <a:t>分散登錄，重複核對</a:t>
            </a:r>
          </a:p>
        </p:txBody>
      </p:sp>
      <p:sp>
        <p:nvSpPr>
          <p:cNvPr id="17" name="before-bullets-2">
            <a:extLst xmlns:a="http://schemas.openxmlformats.org/drawingml/2006/main">
              <a:ext uri="{FF2B5EF4-FFF2-40B4-BE49-F238E27FC236}">
                <a16:creationId xmlns:a16="http://schemas.microsoft.com/office/drawing/2014/main" id="{260D2994-1763-4921-BED7-96661881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4686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</a:t>
            </a:r>
            <a:r>
              <a:rPr sz="1350" b="0">
                <a:solidFill>
                  <a:srgbClr val="111827"/>
                </a:solidFill>
              </a:rPr>
              <a:t>收退料、查詢與庫存分別操作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</a:t>
            </a:r>
            <a:r>
              <a:rPr sz="1350" b="0">
                <a:solidFill>
                  <a:srgbClr val="111827"/>
                </a:solidFill>
              </a:rPr>
              <a:t>datecode／編號格式容易不一致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</a:t>
            </a:r>
            <a:r>
              <a:rPr sz="1350" b="0">
                <a:solidFill>
                  <a:srgbClr val="111827"/>
                </a:solidFill>
              </a:rPr>
              <a:t>大量資料需逐筆輸入並事後修正</a:t>
            </a:r>
          </a:p>
        </p:txBody>
      </p:sp>
      <p:sp>
        <p:nvSpPr>
          <p:cNvPr id="18" name="before-keywords-bg-2">
            <a:extLst xmlns:a="http://schemas.openxmlformats.org/drawingml/2006/main">
              <a:ext uri="{FF2B5EF4-FFF2-40B4-BE49-F238E27FC236}">
                <a16:creationId xmlns:a16="http://schemas.microsoft.com/office/drawing/2014/main" id="{882B77DD-0D65-4C32-9980-ACF2BC22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4572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4EF"/>
          </a:solidFill>
          <a:ln xmlns:a="http://schemas.openxmlformats.org/drawingml/2006/main" w="9525">
            <a:solidFill>
              <a:srgbClr val="F0B7A5"/>
            </a:solidFill>
            <a:prstDash val="solid"/>
          </a:ln>
        </p:spPr>
      </p:sp>
      <p:sp>
        <p:nvSpPr>
          <p:cNvPr id="19" name="before-keywords-2">
            <a:extLst xmlns:a="http://schemas.openxmlformats.org/drawingml/2006/main">
              <a:ext uri="{FF2B5EF4-FFF2-40B4-BE49-F238E27FC236}">
                <a16:creationId xmlns:a16="http://schemas.microsoft.com/office/drawing/2014/main" id="{9BCC754D-14E6-4940-82B8-3F8A4193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054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8C2B17"/>
                </a:solidFill>
              </a:defRPr>
            </a:pPr>
            <a:r>
              <a:rPr sz="1200" b="1">
                <a:solidFill>
                  <a:srgbClr val="8C2B17"/>
                </a:solidFill>
              </a:rPr>
              <a:t>多處查找　｜　逐筆輸入　｜　事後修正</a:t>
            </a:r>
          </a:p>
        </p:txBody>
      </p:sp>
      <p:sp>
        <p:nvSpPr>
          <p:cNvPr id="20" name="after-surface-2">
            <a:extLst xmlns:a="http://schemas.openxmlformats.org/drawingml/2006/main">
              <a:ext uri="{FF2B5EF4-FFF2-40B4-BE49-F238E27FC236}">
                <a16:creationId xmlns:a16="http://schemas.microsoft.com/office/drawing/2014/main" id="{C3AEDEC7-BA20-40EC-A723-10F7F9A0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562927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fter-frame-2">
            <a:extLst xmlns:a="http://schemas.openxmlformats.org/drawingml/2006/main">
              <a:ext uri="{FF2B5EF4-FFF2-40B4-BE49-F238E27FC236}">
                <a16:creationId xmlns:a16="http://schemas.microsoft.com/office/drawing/2014/main" id="{CA63A81F-A49C-4FB7-BEA5-90AFF0ED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51435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CB9F5"/>
            </a:solidFill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fdcec3bb04c66"/>
          <a:srcRect xmlns:a="http://schemas.openxmlformats.org/drawingml/2006/main" l="0" t="1484" r="0" b="14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2686050"/>
            <a:ext cx="4991100" cy="2724150"/>
          </a:xfrm>
          <a:prstGeom xmlns:a="http://schemas.openxmlformats.org/drawingml/2006/main" prst="roundRect">
            <a:avLst>
              <a:gd name="adj" fmla="val 3497"/>
            </a:avLst>
          </a:prstGeom>
        </p:spPr>
      </p:pic>
      <p:sp>
        <p:nvSpPr>
          <p:cNvPr id="23" name="after-caption-2">
            <a:extLst xmlns:a="http://schemas.openxmlformats.org/drawingml/2006/main">
              <a:ext uri="{FF2B5EF4-FFF2-40B4-BE49-F238E27FC236}">
                <a16:creationId xmlns:a16="http://schemas.microsoft.com/office/drawing/2014/main" id="{07DD4A13-BB7B-4171-A834-DD7FA6D5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81650"/>
            <a:ext cx="499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E3A8A"/>
                </a:solidFill>
              </a:defRPr>
            </a:pPr>
            <a:r>
              <a:rPr sz="1275" b="1">
                <a:solidFill>
                  <a:srgbClr val="1E3A8A"/>
                </a:solidFill>
              </a:rPr>
              <a:t>工作台集中查詢、批次貼上、預覽校驗與帳目追溯</a:t>
            </a:r>
          </a:p>
        </p:txBody>
      </p:sp>
      <p:sp>
        <p:nvSpPr>
          <p:cNvPr id="24" name="cost-cell-2-0-0">
            <a:extLst xmlns:a="http://schemas.openxmlformats.org/drawingml/2006/main">
              <a:ext uri="{FF2B5EF4-FFF2-40B4-BE49-F238E27FC236}">
                <a16:creationId xmlns:a16="http://schemas.microsoft.com/office/drawing/2014/main" id="{C592CEA4-E4C6-4059-8EC0-677677C9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25" name="cost-text-2-0-0">
            <a:extLst xmlns:a="http://schemas.openxmlformats.org/drawingml/2006/main">
              <a:ext uri="{FF2B5EF4-FFF2-40B4-BE49-F238E27FC236}">
                <a16:creationId xmlns:a16="http://schemas.microsoft.com/office/drawing/2014/main" id="{79940685-D208-4EB8-99AC-BBE8EFE2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改善項目</a:t>
            </a:r>
          </a:p>
        </p:txBody>
      </p:sp>
      <p:sp>
        <p:nvSpPr>
          <p:cNvPr id="26" name="cost-cell-2-0-1">
            <a:extLst xmlns:a="http://schemas.openxmlformats.org/drawingml/2006/main">
              <a:ext uri="{FF2B5EF4-FFF2-40B4-BE49-F238E27FC236}">
                <a16:creationId xmlns:a16="http://schemas.microsoft.com/office/drawing/2014/main" id="{3EF3A608-CE5E-47C5-9E96-38BC5AFB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153150"/>
            <a:ext cx="512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27" name="cost-text-2-0-1">
            <a:extLst xmlns:a="http://schemas.openxmlformats.org/drawingml/2006/main">
              <a:ext uri="{FF2B5EF4-FFF2-40B4-BE49-F238E27FC236}">
                <a16:creationId xmlns:a16="http://schemas.microsoft.com/office/drawing/2014/main" id="{478FE02A-43F7-4CE0-9DC4-C6D9F895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229350"/>
            <a:ext cx="497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改善前</a:t>
            </a:r>
          </a:p>
        </p:txBody>
      </p:sp>
      <p:sp>
        <p:nvSpPr>
          <p:cNvPr id="28" name="cost-cell-2-0-2">
            <a:extLst xmlns:a="http://schemas.openxmlformats.org/drawingml/2006/main">
              <a:ext uri="{FF2B5EF4-FFF2-40B4-BE49-F238E27FC236}">
                <a16:creationId xmlns:a16="http://schemas.microsoft.com/office/drawing/2014/main" id="{858CDCD2-2920-4FFD-BC27-98704265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153150"/>
            <a:ext cx="512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29" name="cost-text-2-0-2">
            <a:extLst xmlns:a="http://schemas.openxmlformats.org/drawingml/2006/main">
              <a:ext uri="{FF2B5EF4-FFF2-40B4-BE49-F238E27FC236}">
                <a16:creationId xmlns:a16="http://schemas.microsoft.com/office/drawing/2014/main" id="{49CFEE3C-2EE4-4044-8510-114903B1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229350"/>
            <a:ext cx="497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改善後</a:t>
            </a:r>
          </a:p>
        </p:txBody>
      </p:sp>
      <p:sp>
        <p:nvSpPr>
          <p:cNvPr id="30" name="cost-cell-2-1-0">
            <a:extLst xmlns:a="http://schemas.openxmlformats.org/drawingml/2006/main">
              <a:ext uri="{FF2B5EF4-FFF2-40B4-BE49-F238E27FC236}">
                <a16:creationId xmlns:a16="http://schemas.microsoft.com/office/drawing/2014/main" id="{66196BE1-0B34-4A8E-8F50-98F147D9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1" name="cost-text-2-1-0">
            <a:extLst xmlns:a="http://schemas.openxmlformats.org/drawingml/2006/main">
              <a:ext uri="{FF2B5EF4-FFF2-40B4-BE49-F238E27FC236}">
                <a16:creationId xmlns:a16="http://schemas.microsoft.com/office/drawing/2014/main" id="{99045F6A-B55F-485C-A289-FB15AC77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人力成本</a:t>
            </a:r>
          </a:p>
        </p:txBody>
      </p:sp>
      <p:sp>
        <p:nvSpPr>
          <p:cNvPr id="32" name="cost-cell-2-1-1">
            <a:extLst xmlns:a="http://schemas.openxmlformats.org/drawingml/2006/main">
              <a:ext uri="{FF2B5EF4-FFF2-40B4-BE49-F238E27FC236}">
                <a16:creationId xmlns:a16="http://schemas.microsoft.com/office/drawing/2014/main" id="{FD549340-7D21-4C6A-839D-D57BF868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5151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3" name="cost-text-2-1-1">
            <a:extLst xmlns:a="http://schemas.openxmlformats.org/drawingml/2006/main">
              <a:ext uri="{FF2B5EF4-FFF2-40B4-BE49-F238E27FC236}">
                <a16:creationId xmlns:a16="http://schemas.microsoft.com/office/drawing/2014/main" id="{6CE04101-9345-4E58-81C5-E86588BD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6008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跨頁查找與逐筆登錄</a:t>
            </a:r>
          </a:p>
        </p:txBody>
      </p:sp>
      <p:sp>
        <p:nvSpPr>
          <p:cNvPr id="34" name="cost-cell-2-1-2">
            <a:extLst xmlns:a="http://schemas.openxmlformats.org/drawingml/2006/main">
              <a:ext uri="{FF2B5EF4-FFF2-40B4-BE49-F238E27FC236}">
                <a16:creationId xmlns:a16="http://schemas.microsoft.com/office/drawing/2014/main" id="{ED27A8AD-3636-4AE1-AEED-B2E6A6F6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5151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5" name="cost-text-2-1-2">
            <a:extLst xmlns:a="http://schemas.openxmlformats.org/drawingml/2006/main">
              <a:ext uri="{FF2B5EF4-FFF2-40B4-BE49-F238E27FC236}">
                <a16:creationId xmlns:a16="http://schemas.microsoft.com/office/drawing/2014/main" id="{5AA123DC-E6E1-44BB-8A61-DCAB2BCC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6008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共用工作台，一次處理多列</a:t>
            </a:r>
          </a:p>
        </p:txBody>
      </p:sp>
      <p:sp>
        <p:nvSpPr>
          <p:cNvPr id="36" name="cost-cell-2-2-0">
            <a:extLst xmlns:a="http://schemas.openxmlformats.org/drawingml/2006/main">
              <a:ext uri="{FF2B5EF4-FFF2-40B4-BE49-F238E27FC236}">
                <a16:creationId xmlns:a16="http://schemas.microsoft.com/office/drawing/2014/main" id="{FB0B1F3C-DB85-4C07-A271-4BFABC70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104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7" name="cost-text-2-2-0">
            <a:extLst xmlns:a="http://schemas.openxmlformats.org/drawingml/2006/main">
              <a:ext uri="{FF2B5EF4-FFF2-40B4-BE49-F238E27FC236}">
                <a16:creationId xmlns:a16="http://schemas.microsoft.com/office/drawing/2014/main" id="{58ACF702-D53C-4FAC-AF57-6AB3CBE7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961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錯誤成本</a:t>
            </a:r>
          </a:p>
        </p:txBody>
      </p:sp>
      <p:sp>
        <p:nvSpPr>
          <p:cNvPr id="38" name="cost-cell-2-2-1">
            <a:extLst xmlns:a="http://schemas.openxmlformats.org/drawingml/2006/main">
              <a:ext uri="{FF2B5EF4-FFF2-40B4-BE49-F238E27FC236}">
                <a16:creationId xmlns:a16="http://schemas.microsoft.com/office/drawing/2014/main" id="{87AF67C8-5385-456D-BB1B-B57F3360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0104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9" name="cost-text-2-2-1">
            <a:extLst xmlns:a="http://schemas.openxmlformats.org/drawingml/2006/main">
              <a:ext uri="{FF2B5EF4-FFF2-40B4-BE49-F238E27FC236}">
                <a16:creationId xmlns:a16="http://schemas.microsoft.com/office/drawing/2014/main" id="{84424C63-36CF-40CF-B968-E6AE06B2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0961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格式不一、欄位漏填</a:t>
            </a:r>
          </a:p>
        </p:txBody>
      </p:sp>
      <p:sp>
        <p:nvSpPr>
          <p:cNvPr id="40" name="cost-cell-2-2-2">
            <a:extLst xmlns:a="http://schemas.openxmlformats.org/drawingml/2006/main">
              <a:ext uri="{FF2B5EF4-FFF2-40B4-BE49-F238E27FC236}">
                <a16:creationId xmlns:a16="http://schemas.microsoft.com/office/drawing/2014/main" id="{EA97F73A-202F-4EC3-8249-1D503ECD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0104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1" name="cost-text-2-2-2">
            <a:extLst xmlns:a="http://schemas.openxmlformats.org/drawingml/2006/main">
              <a:ext uri="{FF2B5EF4-FFF2-40B4-BE49-F238E27FC236}">
                <a16:creationId xmlns:a16="http://schemas.microsoft.com/office/drawing/2014/main" id="{070700E0-B8F0-4B68-86D7-C7AEA41E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70961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統一 identifier 規則與後端驗證</a:t>
            </a:r>
          </a:p>
        </p:txBody>
      </p:sp>
      <p:sp>
        <p:nvSpPr>
          <p:cNvPr id="42" name="cost-cell-2-3-0">
            <a:extLst xmlns:a="http://schemas.openxmlformats.org/drawingml/2006/main">
              <a:ext uri="{FF2B5EF4-FFF2-40B4-BE49-F238E27FC236}">
                <a16:creationId xmlns:a16="http://schemas.microsoft.com/office/drawing/2014/main" id="{FA18FF83-3506-4083-8123-C499BD47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057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3" name="cost-text-2-3-0">
            <a:extLst xmlns:a="http://schemas.openxmlformats.org/drawingml/2006/main">
              <a:ext uri="{FF2B5EF4-FFF2-40B4-BE49-F238E27FC236}">
                <a16:creationId xmlns:a16="http://schemas.microsoft.com/office/drawing/2014/main" id="{4D20AF2F-E179-426A-804F-44A9A2FA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5914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操作成本</a:t>
            </a:r>
          </a:p>
        </p:txBody>
      </p:sp>
      <p:sp>
        <p:nvSpPr>
          <p:cNvPr id="44" name="cost-cell-2-3-1">
            <a:extLst xmlns:a="http://schemas.openxmlformats.org/drawingml/2006/main">
              <a:ext uri="{FF2B5EF4-FFF2-40B4-BE49-F238E27FC236}">
                <a16:creationId xmlns:a16="http://schemas.microsoft.com/office/drawing/2014/main" id="{43EA833E-AE0F-40FC-9442-74853002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5057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5" name="cost-text-2-3-1">
            <a:extLst xmlns:a="http://schemas.openxmlformats.org/drawingml/2006/main">
              <a:ext uri="{FF2B5EF4-FFF2-40B4-BE49-F238E27FC236}">
                <a16:creationId xmlns:a16="http://schemas.microsoft.com/office/drawing/2014/main" id="{CD3A0F8E-EAD6-4B0A-A5EE-A4128676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914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送出後才回頭修正</a:t>
            </a:r>
          </a:p>
        </p:txBody>
      </p:sp>
      <p:sp>
        <p:nvSpPr>
          <p:cNvPr id="46" name="cost-cell-2-3-2">
            <a:extLst xmlns:a="http://schemas.openxmlformats.org/drawingml/2006/main">
              <a:ext uri="{FF2B5EF4-FFF2-40B4-BE49-F238E27FC236}">
                <a16:creationId xmlns:a16="http://schemas.microsoft.com/office/drawing/2014/main" id="{ECCA6B34-BD82-4461-9728-BF86530F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5057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7" name="cost-text-2-3-2">
            <a:extLst xmlns:a="http://schemas.openxmlformats.org/drawingml/2006/main">
              <a:ext uri="{FF2B5EF4-FFF2-40B4-BE49-F238E27FC236}">
                <a16:creationId xmlns:a16="http://schemas.microsoft.com/office/drawing/2014/main" id="{0A96FA6D-431C-43C0-81AB-6296F5F6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75914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送出前預覽，錯誤逐列提示</a:t>
            </a:r>
          </a:p>
        </p:txBody>
      </p:sp>
      <p:sp>
        <p:nvSpPr>
          <p:cNvPr id="48" name="footer-2">
            <a:extLst xmlns:a="http://schemas.openxmlformats.org/drawingml/2006/main">
              <a:ext uri="{FF2B5EF4-FFF2-40B4-BE49-F238E27FC236}">
                <a16:creationId xmlns:a16="http://schemas.microsoft.com/office/drawing/2014/main" id="{A9BEB3CB-EE99-4E35-BF81-275E85E0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72450"/>
            <a:ext cx="12192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footer-band-2">
            <a:extLst xmlns:a="http://schemas.openxmlformats.org/drawingml/2006/main">
              <a:ext uri="{FF2B5EF4-FFF2-40B4-BE49-F238E27FC236}">
                <a16:creationId xmlns:a16="http://schemas.microsoft.com/office/drawing/2014/main" id="{47DB1F81-FCFB-4BBC-AFBF-BC05DFD8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8439150"/>
            <a:ext cx="7715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C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footer-logo-2">
            <a:extLst xmlns:a="http://schemas.openxmlformats.org/drawingml/2006/main">
              <a:ext uri="{FF2B5EF4-FFF2-40B4-BE49-F238E27FC236}">
                <a16:creationId xmlns:a16="http://schemas.microsoft.com/office/drawing/2014/main" id="{9240543F-306F-453D-8F74-B1B4842B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34375"/>
            <a:ext cx="60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ooter-logo-text-2">
            <a:extLst xmlns:a="http://schemas.openxmlformats.org/drawingml/2006/main">
              <a:ext uri="{FF2B5EF4-FFF2-40B4-BE49-F238E27FC236}">
                <a16:creationId xmlns:a16="http://schemas.microsoft.com/office/drawing/2014/main" id="{9025837D-197A-4AE6-841C-9E96687A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4582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FM</a:t>
            </a:r>
          </a:p>
        </p:txBody>
      </p:sp>
      <p:sp>
        <p:nvSpPr>
          <p:cNvPr id="52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B1186140-7D6A-4D64-BD63-C703137D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324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Fixture-M Lite</a:t>
            </a:r>
          </a:p>
        </p:txBody>
      </p:sp>
      <p:sp>
        <p:nvSpPr>
          <p:cNvPr id="53" name="footer-sub-2">
            <a:extLst xmlns:a="http://schemas.openxmlformats.org/drawingml/2006/main">
              <a:ext uri="{FF2B5EF4-FFF2-40B4-BE49-F238E27FC236}">
                <a16:creationId xmlns:a16="http://schemas.microsoft.com/office/drawing/2014/main" id="{F878A51D-D54E-4C4A-9B38-032D8CEA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6391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治具庫存與產能管理平台</a:t>
            </a:r>
          </a:p>
        </p:txBody>
      </p:sp>
      <p:sp>
        <p:nvSpPr>
          <p:cNvPr id="54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462CB68E-55AB-4F80-921F-2C37BDFD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4677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936357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5E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left-accent-4">
            <a:extLst xmlns:a="http://schemas.openxmlformats.org/drawingml/2006/main">
              <a:ext uri="{FF2B5EF4-FFF2-40B4-BE49-F238E27FC236}">
                <a16:creationId xmlns:a16="http://schemas.microsoft.com/office/drawing/2014/main" id="{41B11C0D-72DA-407F-8893-921703D1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1075"/>
            <a:ext cx="4762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2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uter-4">
            <a:extLst xmlns:a="http://schemas.openxmlformats.org/drawingml/2006/main">
              <a:ext uri="{FF2B5EF4-FFF2-40B4-BE49-F238E27FC236}">
                <a16:creationId xmlns:a16="http://schemas.microsoft.com/office/drawing/2014/main" id="{F6AB4A5D-EABF-440D-A33A-BA29BAAC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11277600" cy="773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3" name="owner-4">
            <a:extLst xmlns:a="http://schemas.openxmlformats.org/drawingml/2006/main">
              <a:ext uri="{FF2B5EF4-FFF2-40B4-BE49-F238E27FC236}">
                <a16:creationId xmlns:a16="http://schemas.microsoft.com/office/drawing/2014/main" id="{6B10D312-A85E-43CB-9729-BE74745F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TE－專案改善</a:t>
            </a:r>
          </a:p>
        </p:txBody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3893F076-07C6-4FEA-9466-0DD997A6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53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75" b="1">
                <a:solidFill>
                  <a:srgbClr val="111827"/>
                </a:solidFill>
              </a:defRPr>
            </a:pPr>
            <a:r>
              <a:rPr sz="2475" b="1">
                <a:solidFill>
                  <a:srgbClr val="111827"/>
                </a:solidFill>
              </a:rPr>
              <a:t>產能、報表與資料治理同步收斂</a:t>
            </a:r>
          </a:p>
        </p:txBody>
      </p:sp>
      <p:sp>
        <p:nvSpPr>
          <p:cNvPr id="5" name="module-4">
            <a:extLst xmlns:a="http://schemas.openxmlformats.org/drawingml/2006/main">
              <a:ext uri="{FF2B5EF4-FFF2-40B4-BE49-F238E27FC236}">
                <a16:creationId xmlns:a16="http://schemas.microsoft.com/office/drawing/2014/main" id="{E647466F-D9AB-4308-B8EC-A88A5E22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1E3A8A"/>
                </a:solidFill>
              </a:defRPr>
            </a:pPr>
            <a:r>
              <a:rPr sz="1050" b="1">
                <a:solidFill>
                  <a:srgbClr val="1E3A8A"/>
                </a:solidFill>
              </a:rPr>
              <a:t>產能／治理</a:t>
            </a:r>
          </a:p>
        </p:txBody>
      </p:sp>
      <p:sp>
        <p:nvSpPr>
          <p:cNvPr id="6" name="header-line-4">
            <a:extLst xmlns:a="http://schemas.openxmlformats.org/drawingml/2006/main">
              <a:ext uri="{FF2B5EF4-FFF2-40B4-BE49-F238E27FC236}">
                <a16:creationId xmlns:a16="http://schemas.microsoft.com/office/drawing/2014/main" id="{50B06417-582A-409C-B98D-0BDB0292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7" name="reason-label-4">
            <a:extLst xmlns:a="http://schemas.openxmlformats.org/drawingml/2006/main">
              <a:ext uri="{FF2B5EF4-FFF2-40B4-BE49-F238E27FC236}">
                <a16:creationId xmlns:a16="http://schemas.microsoft.com/office/drawing/2014/main" id="{3C0BF403-0A20-4AA6-93FE-9CC187EB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382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改善原因：</a:t>
            </a:r>
          </a:p>
        </p:txBody>
      </p:sp>
      <p:sp>
        <p:nvSpPr>
          <p:cNvPr id="8" name="reason-4">
            <a:extLst xmlns:a="http://schemas.openxmlformats.org/drawingml/2006/main">
              <a:ext uri="{FF2B5EF4-FFF2-40B4-BE49-F238E27FC236}">
                <a16:creationId xmlns:a16="http://schemas.microsoft.com/office/drawing/2014/main" id="{D550E27F-AAC3-43A0-BC53-19056202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362075"/>
            <a:ext cx="9696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產能、報表與客戶資料若各自判斷，容易高估可開站數、產生查詢口徑差異，並增加越權與圖片對應風險。</a:t>
            </a:r>
          </a:p>
        </p:txBody>
      </p:sp>
      <p:sp>
        <p:nvSpPr>
          <p:cNvPr id="9" name="reason-line-4">
            <a:extLst xmlns:a="http://schemas.openxmlformats.org/drawingml/2006/main">
              <a:ext uri="{FF2B5EF4-FFF2-40B4-BE49-F238E27FC236}">
                <a16:creationId xmlns:a16="http://schemas.microsoft.com/office/drawing/2014/main" id="{DD7C137E-78E8-4C50-8D5F-1B61FA5D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0" name="before-label-4">
            <a:extLst xmlns:a="http://schemas.openxmlformats.org/drawingml/2006/main">
              <a:ext uri="{FF2B5EF4-FFF2-40B4-BE49-F238E27FC236}">
                <a16:creationId xmlns:a16="http://schemas.microsoft.com/office/drawing/2014/main" id="{04F91E51-49CF-48E4-A0E1-BA9352FA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改善前</a:t>
            </a:r>
          </a:p>
        </p:txBody>
      </p:sp>
      <p:sp>
        <p:nvSpPr>
          <p:cNvPr id="11" name="after-label-4">
            <a:extLst xmlns:a="http://schemas.openxmlformats.org/drawingml/2006/main">
              <a:ext uri="{FF2B5EF4-FFF2-40B4-BE49-F238E27FC236}">
                <a16:creationId xmlns:a16="http://schemas.microsoft.com/office/drawing/2014/main" id="{D14B6DE2-AD4B-4312-A319-916EA1E5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改善後</a:t>
            </a:r>
          </a:p>
        </p:txBody>
      </p:sp>
      <p:sp>
        <p:nvSpPr>
          <p:cNvPr id="12" name="panel-top-4">
            <a:extLst xmlns:a="http://schemas.openxmlformats.org/drawingml/2006/main">
              <a:ext uri="{FF2B5EF4-FFF2-40B4-BE49-F238E27FC236}">
                <a16:creationId xmlns:a16="http://schemas.microsoft.com/office/drawing/2014/main" id="{D301CA23-FEB3-41D9-BA81-9BC339CB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3" name="panel-divider-4">
            <a:extLst xmlns:a="http://schemas.openxmlformats.org/drawingml/2006/main">
              <a:ext uri="{FF2B5EF4-FFF2-40B4-BE49-F238E27FC236}">
                <a16:creationId xmlns:a16="http://schemas.microsoft.com/office/drawing/2014/main" id="{F8998F6C-9F1A-4E46-B4ED-E798D3C1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0" cy="417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717"/>
            </a:solidFill>
            <a:prstDash val="solid"/>
          </a:ln>
        </p:spPr>
      </p:sp>
      <p:sp>
        <p:nvSpPr>
          <p:cNvPr id="14" name="before-surface-4">
            <a:extLst xmlns:a="http://schemas.openxmlformats.org/drawingml/2006/main">
              <a:ext uri="{FF2B5EF4-FFF2-40B4-BE49-F238E27FC236}">
                <a16:creationId xmlns:a16="http://schemas.microsoft.com/office/drawing/2014/main" id="{C7FF7C20-4600-46EA-B09D-6ED8F9C7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419350"/>
            <a:ext cx="562927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efore-accent-4">
            <a:extLst xmlns:a="http://schemas.openxmlformats.org/drawingml/2006/main">
              <a:ext uri="{FF2B5EF4-FFF2-40B4-BE49-F238E27FC236}">
                <a16:creationId xmlns:a16="http://schemas.microsoft.com/office/drawing/2014/main" id="{E4A739E8-19C5-4908-94D8-AC212167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762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32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efore-headline-4">
            <a:extLst xmlns:a="http://schemas.openxmlformats.org/drawingml/2006/main">
              <a:ext uri="{FF2B5EF4-FFF2-40B4-BE49-F238E27FC236}">
                <a16:creationId xmlns:a16="http://schemas.microsoft.com/office/drawing/2014/main" id="{CF24972F-BD34-44FF-9386-1105800F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43216"/>
                </a:solidFill>
              </a:defRPr>
            </a:pPr>
            <a:r>
              <a:rPr sz="2025" b="1">
                <a:solidFill>
                  <a:srgbClr val="B43216"/>
                </a:solidFill>
              </a:rPr>
              <a:t>判斷分散，答案難一致</a:t>
            </a:r>
          </a:p>
        </p:txBody>
      </p:sp>
      <p:sp>
        <p:nvSpPr>
          <p:cNvPr id="17" name="before-bullets-4">
            <a:extLst xmlns:a="http://schemas.openxmlformats.org/drawingml/2006/main">
              <a:ext uri="{FF2B5EF4-FFF2-40B4-BE49-F238E27FC236}">
                <a16:creationId xmlns:a16="http://schemas.microsoft.com/office/drawing/2014/main" id="{EAF8B67A-61EE-43DF-86E8-A65BA3F3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86125"/>
            <a:ext cx="4686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</a:t>
            </a:r>
            <a:r>
              <a:rPr sz="1350" b="0">
                <a:solidFill>
                  <a:srgbClr val="111827"/>
                </a:solidFill>
              </a:rPr>
              <a:t>只看站點或部分庫存，產能可能高估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</a:t>
            </a:r>
            <a:r>
              <a:rPr sz="1350" b="0">
                <a:solidFill>
                  <a:srgbClr val="111827"/>
                </a:solidFill>
              </a:rPr>
              <a:t>前端拼接篩選、分頁與完整匯出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• </a:t>
            </a:r>
            <a:r>
              <a:rPr sz="1350" b="0">
                <a:solidFill>
                  <a:srgbClr val="111827"/>
                </a:solidFill>
              </a:rPr>
              <a:t>權限、儲位與圖片維護依賴人工約定</a:t>
            </a:r>
          </a:p>
        </p:txBody>
      </p:sp>
      <p:sp>
        <p:nvSpPr>
          <p:cNvPr id="18" name="before-keywords-bg-4">
            <a:extLst xmlns:a="http://schemas.openxmlformats.org/drawingml/2006/main">
              <a:ext uri="{FF2B5EF4-FFF2-40B4-BE49-F238E27FC236}">
                <a16:creationId xmlns:a16="http://schemas.microsoft.com/office/drawing/2014/main" id="{6305F06D-18A9-4CE8-B0DB-5FF011AF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4572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4EF"/>
          </a:solidFill>
          <a:ln xmlns:a="http://schemas.openxmlformats.org/drawingml/2006/main" w="9525">
            <a:solidFill>
              <a:srgbClr val="F0B7A5"/>
            </a:solidFill>
            <a:prstDash val="solid"/>
          </a:ln>
        </p:spPr>
      </p:sp>
      <p:sp>
        <p:nvSpPr>
          <p:cNvPr id="19" name="before-keywords-4">
            <a:extLst xmlns:a="http://schemas.openxmlformats.org/drawingml/2006/main">
              <a:ext uri="{FF2B5EF4-FFF2-40B4-BE49-F238E27FC236}">
                <a16:creationId xmlns:a16="http://schemas.microsoft.com/office/drawing/2014/main" id="{0C6FC478-2CF8-4CCF-BC71-605BB26D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05450"/>
            <a:ext cx="434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8C2B17"/>
                </a:solidFill>
              </a:defRPr>
            </a:pPr>
            <a:r>
              <a:rPr sz="1200" b="1">
                <a:solidFill>
                  <a:srgbClr val="8C2B17"/>
                </a:solidFill>
              </a:rPr>
              <a:t>局部估算　｜　口徑不一　｜　治理風險</a:t>
            </a:r>
          </a:p>
        </p:txBody>
      </p:sp>
      <p:sp>
        <p:nvSpPr>
          <p:cNvPr id="20" name="after-surface-4">
            <a:extLst xmlns:a="http://schemas.openxmlformats.org/drawingml/2006/main">
              <a:ext uri="{FF2B5EF4-FFF2-40B4-BE49-F238E27FC236}">
                <a16:creationId xmlns:a16="http://schemas.microsoft.com/office/drawing/2014/main" id="{352A8AE6-79C0-4750-B194-CADC9278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19350"/>
            <a:ext cx="562927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fter-frame-4">
            <a:extLst xmlns:a="http://schemas.openxmlformats.org/drawingml/2006/main">
              <a:ext uri="{FF2B5EF4-FFF2-40B4-BE49-F238E27FC236}">
                <a16:creationId xmlns:a16="http://schemas.microsoft.com/office/drawing/2014/main" id="{282BBEE4-9AE2-41C8-8E45-66E1163C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51435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CB9F5"/>
            </a:solidFill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02100133d422b"/>
          <a:srcRect xmlns:a="http://schemas.openxmlformats.org/drawingml/2006/main" l="0" t="1484" r="0" b="14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2686050"/>
            <a:ext cx="4991100" cy="2724150"/>
          </a:xfrm>
          <a:prstGeom xmlns:a="http://schemas.openxmlformats.org/drawingml/2006/main" prst="roundRect">
            <a:avLst>
              <a:gd name="adj" fmla="val 3497"/>
            </a:avLst>
          </a:prstGeom>
        </p:spPr>
      </p:pic>
      <p:sp>
        <p:nvSpPr>
          <p:cNvPr id="23" name="after-caption-4">
            <a:extLst xmlns:a="http://schemas.openxmlformats.org/drawingml/2006/main">
              <a:ext uri="{FF2B5EF4-FFF2-40B4-BE49-F238E27FC236}">
                <a16:creationId xmlns:a16="http://schemas.microsoft.com/office/drawing/2014/main" id="{5ADAFFAF-1006-4101-9094-397A88F4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581650"/>
            <a:ext cx="499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E3A8A"/>
                </a:solidFill>
              </a:defRPr>
            </a:pPr>
            <a:r>
              <a:rPr sz="1275" b="1">
                <a:solidFill>
                  <a:srgbClr val="1E3A8A"/>
                </a:solidFill>
              </a:rPr>
              <a:t>瓶頸產能＋後端讀模型＋客戶範圍，形成一致可追溯流程</a:t>
            </a:r>
          </a:p>
        </p:txBody>
      </p:sp>
      <p:sp>
        <p:nvSpPr>
          <p:cNvPr id="24" name="cost-cell-4-0-0">
            <a:extLst xmlns:a="http://schemas.openxmlformats.org/drawingml/2006/main">
              <a:ext uri="{FF2B5EF4-FFF2-40B4-BE49-F238E27FC236}">
                <a16:creationId xmlns:a16="http://schemas.microsoft.com/office/drawing/2014/main" id="{E27E0E7F-E105-4E13-861C-182EB8CB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02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25" name="cost-text-4-0-0">
            <a:extLst xmlns:a="http://schemas.openxmlformats.org/drawingml/2006/main">
              <a:ext uri="{FF2B5EF4-FFF2-40B4-BE49-F238E27FC236}">
                <a16:creationId xmlns:a16="http://schemas.microsoft.com/office/drawing/2014/main" id="{787CC60C-C0D2-496A-9155-45D434B4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876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改善項目</a:t>
            </a:r>
          </a:p>
        </p:txBody>
      </p:sp>
      <p:sp>
        <p:nvSpPr>
          <p:cNvPr id="26" name="cost-cell-4-0-1">
            <a:extLst xmlns:a="http://schemas.openxmlformats.org/drawingml/2006/main">
              <a:ext uri="{FF2B5EF4-FFF2-40B4-BE49-F238E27FC236}">
                <a16:creationId xmlns:a16="http://schemas.microsoft.com/office/drawing/2014/main" id="{DFB6586C-F0A6-4075-A333-08CC3D97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153150"/>
            <a:ext cx="512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27" name="cost-text-4-0-1">
            <a:extLst xmlns:a="http://schemas.openxmlformats.org/drawingml/2006/main">
              <a:ext uri="{FF2B5EF4-FFF2-40B4-BE49-F238E27FC236}">
                <a16:creationId xmlns:a16="http://schemas.microsoft.com/office/drawing/2014/main" id="{F8AA9CEC-8A8E-4B2A-97E1-7E3900CE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229350"/>
            <a:ext cx="497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改善前</a:t>
            </a:r>
          </a:p>
        </p:txBody>
      </p:sp>
      <p:sp>
        <p:nvSpPr>
          <p:cNvPr id="28" name="cost-cell-4-0-2">
            <a:extLst xmlns:a="http://schemas.openxmlformats.org/drawingml/2006/main">
              <a:ext uri="{FF2B5EF4-FFF2-40B4-BE49-F238E27FC236}">
                <a16:creationId xmlns:a16="http://schemas.microsoft.com/office/drawing/2014/main" id="{35AFFB19-F6F5-47B8-98BA-00144941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153150"/>
            <a:ext cx="5124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29" name="cost-text-4-0-2">
            <a:extLst xmlns:a="http://schemas.openxmlformats.org/drawingml/2006/main">
              <a:ext uri="{FF2B5EF4-FFF2-40B4-BE49-F238E27FC236}">
                <a16:creationId xmlns:a16="http://schemas.microsoft.com/office/drawing/2014/main" id="{157381D8-FE2B-4309-B050-83CBA8DD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229350"/>
            <a:ext cx="497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1827"/>
                </a:solidFill>
              </a:defRPr>
            </a:pPr>
            <a:r>
              <a:rPr sz="1125" b="1">
                <a:solidFill>
                  <a:srgbClr val="111827"/>
                </a:solidFill>
              </a:rPr>
              <a:t>改善後</a:t>
            </a:r>
          </a:p>
        </p:txBody>
      </p:sp>
      <p:sp>
        <p:nvSpPr>
          <p:cNvPr id="30" name="cost-cell-4-1-0">
            <a:extLst xmlns:a="http://schemas.openxmlformats.org/drawingml/2006/main">
              <a:ext uri="{FF2B5EF4-FFF2-40B4-BE49-F238E27FC236}">
                <a16:creationId xmlns:a16="http://schemas.microsoft.com/office/drawing/2014/main" id="{8531ED51-6D89-43D2-BCB5-242ABAF8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1" name="cost-text-4-1-0">
            <a:extLst xmlns:a="http://schemas.openxmlformats.org/drawingml/2006/main">
              <a:ext uri="{FF2B5EF4-FFF2-40B4-BE49-F238E27FC236}">
                <a16:creationId xmlns:a16="http://schemas.microsoft.com/office/drawing/2014/main" id="{43105690-3802-4C8C-A316-3EE10B31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人力成本</a:t>
            </a:r>
          </a:p>
        </p:txBody>
      </p:sp>
      <p:sp>
        <p:nvSpPr>
          <p:cNvPr id="32" name="cost-cell-4-1-1">
            <a:extLst xmlns:a="http://schemas.openxmlformats.org/drawingml/2006/main">
              <a:ext uri="{FF2B5EF4-FFF2-40B4-BE49-F238E27FC236}">
                <a16:creationId xmlns:a16="http://schemas.microsoft.com/office/drawing/2014/main" id="{08FD4896-0652-47EF-BD92-87F29D83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5151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3" name="cost-text-4-1-1">
            <a:extLst xmlns:a="http://schemas.openxmlformats.org/drawingml/2006/main">
              <a:ext uri="{FF2B5EF4-FFF2-40B4-BE49-F238E27FC236}">
                <a16:creationId xmlns:a16="http://schemas.microsoft.com/office/drawing/2014/main" id="{C176837A-0E5E-446C-ACA2-566D1E97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6008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逐一比對需求、報表與客戶資料</a:t>
            </a:r>
          </a:p>
        </p:txBody>
      </p:sp>
      <p:sp>
        <p:nvSpPr>
          <p:cNvPr id="34" name="cost-cell-4-1-2">
            <a:extLst xmlns:a="http://schemas.openxmlformats.org/drawingml/2006/main">
              <a:ext uri="{FF2B5EF4-FFF2-40B4-BE49-F238E27FC236}">
                <a16:creationId xmlns:a16="http://schemas.microsoft.com/office/drawing/2014/main" id="{B2CC2C06-C5BA-428A-BE3B-94346405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65151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5" name="cost-text-4-1-2">
            <a:extLst xmlns:a="http://schemas.openxmlformats.org/drawingml/2006/main">
              <a:ext uri="{FF2B5EF4-FFF2-40B4-BE49-F238E27FC236}">
                <a16:creationId xmlns:a16="http://schemas.microsoft.com/office/drawing/2014/main" id="{1BB9F011-E004-4AE5-AA65-BA47A51D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6008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系統彙整瓶頸、篩選與客戶範圍</a:t>
            </a:r>
          </a:p>
        </p:txBody>
      </p:sp>
      <p:sp>
        <p:nvSpPr>
          <p:cNvPr id="36" name="cost-cell-4-2-0">
            <a:extLst xmlns:a="http://schemas.openxmlformats.org/drawingml/2006/main">
              <a:ext uri="{FF2B5EF4-FFF2-40B4-BE49-F238E27FC236}">
                <a16:creationId xmlns:a16="http://schemas.microsoft.com/office/drawing/2014/main" id="{827CEABB-8881-40BB-BFDE-7E2A5733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104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7" name="cost-text-4-2-0">
            <a:extLst xmlns:a="http://schemas.openxmlformats.org/drawingml/2006/main">
              <a:ext uri="{FF2B5EF4-FFF2-40B4-BE49-F238E27FC236}">
                <a16:creationId xmlns:a16="http://schemas.microsoft.com/office/drawing/2014/main" id="{2D6309DC-83C6-48E6-A829-4A4489AC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0961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錯誤成本</a:t>
            </a:r>
          </a:p>
        </p:txBody>
      </p:sp>
      <p:sp>
        <p:nvSpPr>
          <p:cNvPr id="38" name="cost-cell-4-2-1">
            <a:extLst xmlns:a="http://schemas.openxmlformats.org/drawingml/2006/main">
              <a:ext uri="{FF2B5EF4-FFF2-40B4-BE49-F238E27FC236}">
                <a16:creationId xmlns:a16="http://schemas.microsoft.com/office/drawing/2014/main" id="{F64C9A0D-865C-4D2F-AAC1-7978C30E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0104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39" name="cost-text-4-2-1">
            <a:extLst xmlns:a="http://schemas.openxmlformats.org/drawingml/2006/main">
              <a:ext uri="{FF2B5EF4-FFF2-40B4-BE49-F238E27FC236}">
                <a16:creationId xmlns:a16="http://schemas.microsoft.com/office/drawing/2014/main" id="{E9C99E49-A81F-44CA-B056-0369E7F2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0961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機種站點混用、頁面拼接或越權</a:t>
            </a:r>
          </a:p>
        </p:txBody>
      </p:sp>
      <p:sp>
        <p:nvSpPr>
          <p:cNvPr id="40" name="cost-cell-4-2-2">
            <a:extLst xmlns:a="http://schemas.openxmlformats.org/drawingml/2006/main">
              <a:ext uri="{FF2B5EF4-FFF2-40B4-BE49-F238E27FC236}">
                <a16:creationId xmlns:a16="http://schemas.microsoft.com/office/drawing/2014/main" id="{66941949-B0E3-49DD-8253-BD7E16D5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0104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1" name="cost-text-4-2-2">
            <a:extLst xmlns:a="http://schemas.openxmlformats.org/drawingml/2006/main">
              <a:ext uri="{FF2B5EF4-FFF2-40B4-BE49-F238E27FC236}">
                <a16:creationId xmlns:a16="http://schemas.microsoft.com/office/drawing/2014/main" id="{0D17420C-C45F-4DDA-AE6B-B5BB0340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70961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model＋station 計算；後端驗證 scope</a:t>
            </a:r>
          </a:p>
        </p:txBody>
      </p:sp>
      <p:sp>
        <p:nvSpPr>
          <p:cNvPr id="42" name="cost-cell-4-3-0">
            <a:extLst xmlns:a="http://schemas.openxmlformats.org/drawingml/2006/main">
              <a:ext uri="{FF2B5EF4-FFF2-40B4-BE49-F238E27FC236}">
                <a16:creationId xmlns:a16="http://schemas.microsoft.com/office/drawing/2014/main" id="{63DE6225-F984-4CAC-A32C-33B86836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05700"/>
            <a:ext cx="1028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3" name="cost-text-4-3-0">
            <a:extLst xmlns:a="http://schemas.openxmlformats.org/drawingml/2006/main">
              <a:ext uri="{FF2B5EF4-FFF2-40B4-BE49-F238E27FC236}">
                <a16:creationId xmlns:a16="http://schemas.microsoft.com/office/drawing/2014/main" id="{CD5674B7-92FA-4F76-BDB1-0BFB9E44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59142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63238"/>
                </a:solidFill>
              </a:defRPr>
            </a:pPr>
            <a:r>
              <a:rPr sz="1050" b="1">
                <a:solidFill>
                  <a:srgbClr val="263238"/>
                </a:solidFill>
              </a:rPr>
              <a:t>操作成本</a:t>
            </a:r>
          </a:p>
        </p:txBody>
      </p:sp>
      <p:sp>
        <p:nvSpPr>
          <p:cNvPr id="44" name="cost-cell-4-3-1">
            <a:extLst xmlns:a="http://schemas.openxmlformats.org/drawingml/2006/main">
              <a:ext uri="{FF2B5EF4-FFF2-40B4-BE49-F238E27FC236}">
                <a16:creationId xmlns:a16="http://schemas.microsoft.com/office/drawing/2014/main" id="{657F13AC-AA48-483B-9F9E-AD3FF67A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5057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5" name="cost-text-4-3-1">
            <a:extLst xmlns:a="http://schemas.openxmlformats.org/drawingml/2006/main">
              <a:ext uri="{FF2B5EF4-FFF2-40B4-BE49-F238E27FC236}">
                <a16:creationId xmlns:a16="http://schemas.microsoft.com/office/drawing/2014/main" id="{057DAD6D-9B51-41A1-B04F-BCC0E301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75914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多處維護、畫面與匯出重複操作</a:t>
            </a:r>
          </a:p>
        </p:txBody>
      </p:sp>
      <p:sp>
        <p:nvSpPr>
          <p:cNvPr id="46" name="cost-cell-4-3-2">
            <a:extLst xmlns:a="http://schemas.openxmlformats.org/drawingml/2006/main">
              <a:ext uri="{FF2B5EF4-FFF2-40B4-BE49-F238E27FC236}">
                <a16:creationId xmlns:a16="http://schemas.microsoft.com/office/drawing/2014/main" id="{2F3F7B10-B1A7-4ADE-8F20-C7744C4B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505700"/>
            <a:ext cx="512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EE"/>
          </a:solidFill>
          <a:ln xmlns:a="http://schemas.openxmlformats.org/drawingml/2006/main" w="9525">
            <a:solidFill>
              <a:srgbClr val="90A074"/>
            </a:solidFill>
            <a:prstDash val="solid"/>
          </a:ln>
        </p:spPr>
      </p:sp>
      <p:sp>
        <p:nvSpPr>
          <p:cNvPr id="47" name="cost-text-4-3-2">
            <a:extLst xmlns:a="http://schemas.openxmlformats.org/drawingml/2006/main">
              <a:ext uri="{FF2B5EF4-FFF2-40B4-BE49-F238E27FC236}">
                <a16:creationId xmlns:a16="http://schemas.microsoft.com/office/drawing/2014/main" id="{43449048-81EB-45C7-9CC9-E1C057AA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7591425"/>
            <a:ext cx="497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238"/>
                </a:solidFill>
              </a:defRPr>
            </a:pPr>
            <a:r>
              <a:rPr sz="1050" b="0">
                <a:solidFill>
                  <a:srgbClr val="263238"/>
                </a:solidFill>
              </a:rPr>
              <a:t>一致讀模型、完整匯出與圖片維護</a:t>
            </a:r>
          </a:p>
        </p:txBody>
      </p:sp>
      <p:sp>
        <p:nvSpPr>
          <p:cNvPr id="48" name="footer-4">
            <a:extLst xmlns:a="http://schemas.openxmlformats.org/drawingml/2006/main">
              <a:ext uri="{FF2B5EF4-FFF2-40B4-BE49-F238E27FC236}">
                <a16:creationId xmlns:a16="http://schemas.microsoft.com/office/drawing/2014/main" id="{D96A8F6C-F963-48CE-9541-1CC58786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72450"/>
            <a:ext cx="12192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footer-band-4">
            <a:extLst xmlns:a="http://schemas.openxmlformats.org/drawingml/2006/main">
              <a:ext uri="{FF2B5EF4-FFF2-40B4-BE49-F238E27FC236}">
                <a16:creationId xmlns:a16="http://schemas.microsoft.com/office/drawing/2014/main" id="{255DA2DA-7E39-4CE6-8002-0C19B08F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8439150"/>
            <a:ext cx="7715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C2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footer-logo-4">
            <a:extLst xmlns:a="http://schemas.openxmlformats.org/drawingml/2006/main">
              <a:ext uri="{FF2B5EF4-FFF2-40B4-BE49-F238E27FC236}">
                <a16:creationId xmlns:a16="http://schemas.microsoft.com/office/drawing/2014/main" id="{18FA387A-92A9-4FCE-8A05-8BC5D456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34375"/>
            <a:ext cx="609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ooter-logo-text-4">
            <a:extLst xmlns:a="http://schemas.openxmlformats.org/drawingml/2006/main">
              <a:ext uri="{FF2B5EF4-FFF2-40B4-BE49-F238E27FC236}">
                <a16:creationId xmlns:a16="http://schemas.microsoft.com/office/drawing/2014/main" id="{342E75E1-94A3-413F-AC28-B5F0D8B8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84582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FM</a:t>
            </a:r>
          </a:p>
        </p:txBody>
      </p:sp>
      <p:sp>
        <p:nvSpPr>
          <p:cNvPr id="52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2DAB6B57-C674-4612-A4C2-294998DA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324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Fixture-M Lite</a:t>
            </a:r>
          </a:p>
        </p:txBody>
      </p:sp>
      <p:sp>
        <p:nvSpPr>
          <p:cNvPr id="53" name="footer-sub-4">
            <a:extLst xmlns:a="http://schemas.openxmlformats.org/drawingml/2006/main">
              <a:ext uri="{FF2B5EF4-FFF2-40B4-BE49-F238E27FC236}">
                <a16:creationId xmlns:a16="http://schemas.microsoft.com/office/drawing/2014/main" id="{1CF30902-C603-4B26-BD5F-416C39E7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86391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治具庫存與產能管理平台</a:t>
            </a:r>
          </a:p>
        </p:txBody>
      </p:sp>
      <p:sp>
        <p:nvSpPr>
          <p:cNvPr id="54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3502F394-BD2C-4E45-80F6-E035A1EC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4677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B5563"/>
                </a:solidFill>
              </a:defRPr>
            </a:pPr>
            <a:r>
              <a:rPr sz="1200" b="1">
                <a:solidFill>
                  <a:srgbClr val="4B556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637721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2026-08-28T11:58:15.5460000Z</dcterms:created>
  <dcterms:modified xsi:type="dcterms:W3CDTF">2026-08-28T11:58:15.5460000Z</dcterms:modified>
</coreProperties>
</file>