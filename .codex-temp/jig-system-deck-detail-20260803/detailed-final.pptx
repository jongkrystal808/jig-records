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83a0ed681a4747" /><Relationship Type="http://schemas.openxmlformats.org/officeDocument/2006/relationships/extended-properties" Target="/docProps/app.xml" Id="R2fd6d6d9c9474ba9" /><Relationship Type="http://schemas.openxmlformats.org/officeDocument/2006/relationships/officeDocument" Target="/ppt/presentation.xml" Id="Rb1c7d38add2e42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152c24cd604455"/>
  </p:sldMasterIdLst>
  <p:notesMasterIdLst>
    <p:notesMasterId xmlns:r="http://schemas.openxmlformats.org/officeDocument/2006/relationships" r:id="R97aec24f376d4cfd"/>
  </p:notesMasterIdLst>
  <p:sldIdLst>
    <p:sldId xmlns:r="http://schemas.openxmlformats.org/officeDocument/2006/relationships" id="256" r:id="R1ab4b40051664dc6"/>
    <p:sldId xmlns:r="http://schemas.openxmlformats.org/officeDocument/2006/relationships" id="257" r:id="R18b1727a5b0a417a"/>
    <p:sldId xmlns:r="http://schemas.openxmlformats.org/officeDocument/2006/relationships" id="258" r:id="R360d33110f9843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7ddac01e1848f1" /><Relationship Type="http://schemas.openxmlformats.org/officeDocument/2006/relationships/slideMaster" Target="/ppt/slideMasters/slideMaster1.xml" Id="R0c152c24cd604455" /><Relationship Type="http://schemas.openxmlformats.org/officeDocument/2006/relationships/notesMaster" Target="/ppt/notesMasters/notesMaster1.xml" Id="R97aec24f376d4cfd" /><Relationship Type="http://schemas.openxmlformats.org/officeDocument/2006/relationships/presProps" Target="/ppt/presProps.xml" Id="R9bfe424cac144c8f" /><Relationship Type="http://schemas.openxmlformats.org/officeDocument/2006/relationships/tableStyles" Target="/ppt/tableStyles.xml" Id="R2612dc627bf141cc" /><Relationship Type="http://schemas.openxmlformats.org/officeDocument/2006/relationships/slide" Target="/ppt/slides/slide1.xml" Id="R1ab4b40051664dc6" /><Relationship Type="http://schemas.openxmlformats.org/officeDocument/2006/relationships/slide" Target="/ppt/slides/slide2.xml" Id="R18b1727a5b0a417a" /><Relationship Type="http://schemas.openxmlformats.org/officeDocument/2006/relationships/slide" Target="/ppt/slides/slide3.xml" Id="R360d33110f9843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f78b8a31aa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46597bdba841e9" /><Relationship Type="http://schemas.openxmlformats.org/officeDocument/2006/relationships/notesMaster" Target="/ppt/notesMasters/notesMaster1.xml" Id="R87d778994ec34d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2de7c61fc945c0" /><Relationship Type="http://schemas.openxmlformats.org/officeDocument/2006/relationships/notesMaster" Target="/ppt/notesMasters/notesMaster1.xml" Id="R64adbcb9929a43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dbdef9b8394efa" /><Relationship Type="http://schemas.openxmlformats.org/officeDocument/2006/relationships/notesMaster" Target="/ppt/notesMasters/notesMaster1.xml" Id="R115d5cdb8d2a4a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主旨：系統把原本分散的治具資料、庫存狀態與生產需求放進同一個操作流程。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C:/Users/user/PycharmProjects/jig-record/AGENT.md（系統定位、搜尋、庫存與產能計算）</a:t>
            </a:r>
          </a:p>
          <a:p xmlns:a="http://schemas.openxmlformats.org/drawingml/2006/main">
            <a:r>
              <a:t>- C:/Users/user/PycharmProjects/jig-record/ARCHITECTURE_LANDING.md（目前已實作功能）</a:t>
            </a:r>
          </a:p>
          <a:p xmlns:a="http://schemas.openxmlformats.org/drawingml/2006/main">
            <a:r>
              <a:t>- C:/Users/user/PycharmProjects/jig-record/uploads/fixtures/O-78-5.jpg</a:t>
            </a:r>
          </a:p>
          <a:p xmlns:a="http://schemas.openxmlformats.org/drawingml/2006/main">
            <a:r>
              <a:t>- C:/Users/user/PycharmProjects/jig-record/uploads/fixtures/F-00629.jpg</a:t>
            </a:r>
          </a:p>
          <a:p xmlns:a="http://schemas.openxmlformats.org/drawingml/2006/main">
            <a:r>
              <a:t>- C:/Users/user/PycharmProjects/jig-record/uploads/fixtures/D-00002.jpg</a:t>
            </a:r>
          </a:p>
          <a:p xmlns:a="http://schemas.openxmlformats.org/drawingml/2006/main">
            <a:r>
              <a:t>
補充：功能介紹已展開至搜尋欄位、顯示資訊、收退料／批次作業、警示與產能計算邏輯。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使用方式可依現場節奏說明：班前確認、異常應變、排程決策。</a:t>
            </a:r>
          </a:p>
          <a:p xmlns:a="http://schemas.openxmlformats.org/drawingml/2006/main">
            <a:r>
              <a:t>最大可開站數的核心邏輯為各必要治具可支援數量的最小值；查詢範圍必須包含機種與工站。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C:/Users/user/PycharmProjects/jig-record/AGENT.md（搜尋規則、庫存警示、產能計算）</a:t>
            </a:r>
          </a:p>
          <a:p xmlns:a="http://schemas.openxmlformats.org/drawingml/2006/main">
            <a:r>
              <a:t>- C:/Users/user/PycharmProjects/jig-record/ARCHITECTURE_LANDING.md（搜尋、收退料、批次與產能功能）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效益以可驗證的改善方向呈現，避免在尚未建立基準值前宣稱百分比成果。</a:t>
            </a:r>
          </a:p>
          <a:p xmlns:a="http://schemas.openxmlformats.org/drawingml/2006/main">
            <a:r>
              <a:t>建議導入前後用相同口徑追蹤：平均查找時間、缺料事件數、排程調整次數。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C:/Users/user/PycharmProjects/jig-record/AGENT.md（系統目標、權限、庫存警示、產能規劃）</a:t>
            </a:r>
          </a:p>
          <a:p xmlns:a="http://schemas.openxmlformats.org/drawingml/2006/main">
            <a:r>
              <a:t>- C:/Users/user/PycharmProjects/jig-record/ARCHITECTURE_LANDING.md（現有功能與使用範圍）</a:t>
            </a:r>
          </a:p>
          <a:p xmlns:a="http://schemas.openxmlformats.org/drawingml/2006/main">
            <a:r>
              <a:t>
補充：改善效益以等待、缺料風險與排程判斷三類結果呈現，並保留導入後量測建議。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9337e11e8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be0739eadf467b" /><Relationship Type="http://schemas.openxmlformats.org/officeDocument/2006/relationships/slideLayout" Target="/ppt/slideLayouts/slideLayout1.xml" Id="Re2142bfea11b4d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142bfea11b4d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ad75ded4a429a" /><Relationship Type="http://schemas.openxmlformats.org/officeDocument/2006/relationships/image" Target="/ppt/media/image.jpeg" Id="Rf8e6b29ac2f842c8" /><Relationship Type="http://schemas.openxmlformats.org/officeDocument/2006/relationships/image" Target="/ppt/media/image2.jpeg" Id="R7810b7b019ef4e89" /><Relationship Type="http://schemas.openxmlformats.org/officeDocument/2006/relationships/image" Target="/ppt/media/image3.jpeg" Id="R12769d954e9044cf" /><Relationship Type="http://schemas.openxmlformats.org/officeDocument/2006/relationships/notesSlide" Target="/ppt/notesSlides/notesSlide1.xml" Id="R6be30377a8c44c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79f54b9bc4aba" /><Relationship Type="http://schemas.openxmlformats.org/officeDocument/2006/relationships/notesSlide" Target="/ppt/notesSlides/notesSlide2.xml" Id="Ra97eed5555d444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37071b248431e" /><Relationship Type="http://schemas.openxmlformats.org/officeDocument/2006/relationships/notesSlide" Target="/ppt/notesSlides/notesSlide3.xml" Id="R5b38cce6528b40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780BE44-C0C3-4147-BF8E-D1EB35D9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/ 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05A503B-6481-442A-B182-32A68DE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治具系統，串起查找、庫存與產能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24140B59-470B-47A7-93DC-A19AA170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</a:pPr>
            <a:r>
              <a:rPr sz="2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快速查找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搜尋｜編號／名稱、機種、工站或庫位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顯示｜照片、庫存、關聯機種與責任人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8527ABE-05FA-4FF4-8596-3822AEEE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</a:pPr>
            <a:r>
              <a:rPr sz="2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庫存管理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作業｜收料、退料、批次貼上、CSV 匯入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狀態｜庫存摘要、低庫存／無庫存提示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C04B1A9E-997E-450C-BFCA-CDAFD6E8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</a:pPr>
            <a:r>
              <a:rPr sz="22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產能規劃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設定｜機種 × 工站 × 治具需求量</a:t>
            </a:r>
            <a:r>
              <a:rPr sz="165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計算｜取可支援數最小值，得到最大開站能力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BF909FB8-484B-4C2D-8510-00CFF09F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236CAE3A-01C5-46BA-B58C-D20BBD75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65EB2E3A-E418-495D-85E8-D510F5C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6BDCE16-6501-4F6C-9416-7E77B841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fixture-photo-search-frame">
            <a:extLst xmlns:a="http://schemas.openxmlformats.org/drawingml/2006/main">
              <a:ext uri="{FF2B5EF4-FFF2-40B4-BE49-F238E27FC236}">
                <a16:creationId xmlns:a16="http://schemas.microsoft.com/office/drawing/2014/main" id="{204BB7B2-7C78-4E5D-852F-2D5393F6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68" y="1619250"/>
            <a:ext cx="3644932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6b29ac2f842c8"/>
          <a:srcRect xmlns:a="http://schemas.openxmlformats.org/drawingml/2006/main" l="0" t="14901" r="0" b="1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57350"/>
            <a:ext cx="3568732" cy="1409700"/>
          </a:xfrm>
          <a:prstGeom xmlns:a="http://schemas.openxmlformats.org/drawingml/2006/main" prst="rect">
            <a:avLst/>
          </a:prstGeom>
        </p:spPr>
      </p:pic>
      <p:sp>
        <p:nvSpPr>
          <p:cNvPr id="12" name="fixture-photo-inventory-frame">
            <a:extLst xmlns:a="http://schemas.openxmlformats.org/drawingml/2006/main">
              <a:ext uri="{FF2B5EF4-FFF2-40B4-BE49-F238E27FC236}">
                <a16:creationId xmlns:a16="http://schemas.microsoft.com/office/drawing/2014/main" id="{282A6A8F-CB83-438F-93BD-B31A5C5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1619250"/>
            <a:ext cx="3644932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0b7b019ef4e89"/>
          <a:srcRect xmlns:a="http://schemas.openxmlformats.org/drawingml/2006/main" l="0" t="30459" r="0" b="30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7968" y="1657350"/>
            <a:ext cx="3568732" cy="1409700"/>
          </a:xfrm>
          <a:prstGeom xmlns:a="http://schemas.openxmlformats.org/drawingml/2006/main" prst="rect">
            <a:avLst/>
          </a:prstGeom>
        </p:spPr>
      </p:pic>
      <p:sp>
        <p:nvSpPr>
          <p:cNvPr id="14" name="fixture-photo-capacity-frame">
            <a:extLst xmlns:a="http://schemas.openxmlformats.org/drawingml/2006/main">
              <a:ext uri="{FF2B5EF4-FFF2-40B4-BE49-F238E27FC236}">
                <a16:creationId xmlns:a16="http://schemas.microsoft.com/office/drawing/2014/main" id="{A344CAE6-7E1F-48DC-928B-72F0B44F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167" y="1619250"/>
            <a:ext cx="3644932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69d954e9044cf"/>
          <a:srcRect xmlns:a="http://schemas.openxmlformats.org/drawingml/2006/main" l="0" t="23666" r="0" b="236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2267" y="1657350"/>
            <a:ext cx="3568732" cy="1409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240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CE30AE8-EFAF-4A5E-82D7-ED8D666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/ 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1107C1D-F9FD-436C-B15C-F9438AEC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三個現場節點，快速完成日常決策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5341620"/>
            <a:ext cx="114605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38F8F47-8C89-4673-A93A-EDA6F2B2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EF6B464-BCAB-46D2-A86B-3D9EBA38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132305F-6397-48A8-AB9E-10CBEE9C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360EBA68-41FC-44A7-A4E9-15FAA0B0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454252E0-EB17-4E70-ADFB-314E74CA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開工前備料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搜尋治具與庫位，確認庫存與責任人，快速備齊現場需求。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809AE032-791D-4FDB-86A1-4E306469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ADF7CF9B-4EC0-4FFC-A11C-9B2E93EA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缺料異常處理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遇到低庫存或缺料，追溯收退料明細，補料與責任歸屬更清楚。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75E2103-BF56-4709-8666-4B6B963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17062426-D25D-48BB-8FA9-BF5B758A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生產排程確認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選定機種與工站，依需求量與現有庫存估算最大可開站數。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DABB3C55-8F2C-4829-AB98-496783F6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02｜缺料應變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35D48FEC-F67A-4096-960B-7731C42C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01｜班前準備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AD8EEE2-8644-4F35-864C-FBBD9551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03｜排程確認</a:t>
            </a:r>
          </a:p>
        </p:txBody>
      </p:sp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236B382-A3FC-459E-A6E3-09BFC77C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43073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472B9FF-C3DF-4A97-9218-06EAF814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/ 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684E8F7-6B02-4CB3-AECD-D12EB800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系統功能直接改善等待、缺料與排程風險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0A893E5-64C3-45CC-B3BA-34D39C3D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五項系統作法，建立一致作業依據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7FEB36E-919F-441E-B670-D70BCA2F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查找｜圖片與庫位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3D6D3502-67A6-4EFA-BE00-8DF9140C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EC39B5F8-5F48-43DC-84AA-ACCAFB9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32351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80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減少等待｜圖片、庫位、庫存與關聯機種集中查詢，縮短找料與問人時間。</a:t>
            </a:r>
            <a:r>
              <a:rPr sz="180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降低風險｜低庫存／缺料提前提示，收退料可追溯，減少帳實不符。</a:t>
            </a:r>
            <a:r>
              <a:rPr sz="180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
提升規劃｜依機種、工站與需求量試算可開站數，提早辨識瓶頸。</a:t>
            </a:r>
            <a:r>
              <a:rPr sz="1500" b="1">
                <a:solidFill>
                  <a:srgbClr val="1D4ED8"/>
                </a:solidFill>
                <a:latin typeface="Microsoft JhengHei"/>
                <a:ea typeface="Microsoft JhengHei"/>
                <a:cs typeface="Microsoft JhengHei"/>
              </a:rPr>
              <a:t>
建議量測｜查找時間、缺料事件、排程調整次數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5316665-F5A0-429E-A719-0761D30E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預警｜低庫存提示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74FD6CF-E991-473E-B506-5767052E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B20BDA4-9361-4D5F-A717-A2E1D7C3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規劃｜可開站試算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75DDBB27-603D-4355-A7CF-A4999266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6359BA52-9E91-4FBF-84CA-C3B93E6F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權責｜角色與稽核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A5701AE6-507B-42FF-88F0-27EF1CD1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03DE1234-D510-46D9-873D-C61C4D69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資料｜批次匯入匯出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108B43E8-3E84-47CB-8B45-A2D8C374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DB090F9-D694-4D90-AA1A-77D7733F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6229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2026-08-03T01:58:21.3630000Z</dcterms:created>
  <dcterms:modified xsi:type="dcterms:W3CDTF">2026-08-03T01:58:21.3640000Z</dcterms:modified>
</coreProperties>
</file>